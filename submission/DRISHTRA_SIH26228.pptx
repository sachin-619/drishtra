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6B77"/>
    <a:srgbClr val="7C838D"/>
    <a:srgbClr val="2DD4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7T01:20:04.39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12373,'807'0'0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7T01:20:24.4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1210 0 14639,'-1210'0'0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7T01:20:29.48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89 9830,'7'-6'83,"-1"1"0,1 0-1,0 1 1,0 0 0,0 0 0,1 0 0,-1 1-1,14-4 1,66-14 886,-80 19-931,76-9 644,0 3 1,0 4 0,106 8 0,-30-1 408,-79-3-590,-46 0-456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7T01:20:35.18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9830,'888'0'6508,"-854"0"-6462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7T01:20:39.18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40 12203,'1009'-40'0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7T01:20:46.6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9830,'888'0'6508,"-854"0"-6462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7T01:20:51.01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9830,'1049'0'7600,"-1014"0"-7554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841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https://drive.google.com/drive/folders/11Rv0KPfS3BDNw3O52JNLB3xJdak9tYpr?usp=drive_link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0.png"/><Relationship Id="rId1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customXml" Target="../ink/ink5.xml"/><Relationship Id="rId17" Type="http://schemas.openxmlformats.org/officeDocument/2006/relationships/hyperlink" Target="https://drive.google.com/drive/folders/11Rv0KPfS3BDNw3O52JNLB3xJdak9tYpr?usp=drive_link" TargetMode="External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5" Type="http://schemas.openxmlformats.org/officeDocument/2006/relationships/customXml" Target="../ink/ink7.xml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8.png"/><Relationship Id="rId14" Type="http://schemas.openxmlformats.org/officeDocument/2006/relationships/customXml" Target="../ink/ink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hyperlink" Target="https://drive.google.com/drive/folders/11Rv0KPfS3BDNw3O52JNLB3xJdak9tYpr?usp=drive_link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hyperlink" Target="https://drive.google.com/drive/folders/11Rv0KPfS3BDNw3O52JNLB3xJdak9tYpr?usp=drive_link" TargetMode="External"/></Relationships>
</file>

<file path=ppt/slides/_rels/slide6.xml.rels><?xml version="1.0" encoding="UTF-8" standalone="yes"?>
<Relationships xmlns="http://schemas.openxmlformats.org/package/2006/relationships"><Relationship Id="rId8" Type="http://schemas.openxmlformats.org/officeDocument/2006/relationships/hyperlink" Target="https://www.drdo.gov.in" TargetMode="External"/><Relationship Id="rId13" Type="http://schemas.openxmlformats.org/officeDocument/2006/relationships/hyperlink" Target="https://hiddenlayer.com" TargetMode="External"/><Relationship Id="rId1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hyperlink" Target="https://c2pa.org" TargetMode="External"/><Relationship Id="rId12" Type="http://schemas.openxmlformats.org/officeDocument/2006/relationships/hyperlink" Target="https://safety.google/cybersecurity-advancements/saif/" TargetMode="External"/><Relationship Id="rId17" Type="http://schemas.openxmlformats.org/officeDocument/2006/relationships/hyperlink" Target="https://drive.google.com/drive/folders/11Rv0KPfS3BDNw3O52JNLB3xJdak9tYpr?usp=drive_link" TargetMode="External"/><Relationship Id="rId2" Type="http://schemas.openxmlformats.org/officeDocument/2006/relationships/notesSlide" Target="../notesSlides/notesSlide6.xml"/><Relationship Id="rId16" Type="http://schemas.openxmlformats.org/officeDocument/2006/relationships/hyperlink" Target="https://github.com/SACHIN-619/DRISHTRA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SCLBD/BackdoorBench" TargetMode="External"/><Relationship Id="rId11" Type="http://schemas.openxmlformats.org/officeDocument/2006/relationships/hyperlink" Target="https://vedas.sac.gov.in" TargetMode="External"/><Relationship Id="rId5" Type="http://schemas.openxmlformats.org/officeDocument/2006/relationships/hyperlink" Target="https://pages.nist.gov/trojai/" TargetMode="External"/><Relationship Id="rId15" Type="http://schemas.openxmlformats.org/officeDocument/2006/relationships/hyperlink" Target="https://drive.google.com/drive/folders/1mxUWmGMbVJ_6LKTibEFJUbYOx3maWFpY?usp=sharing" TargetMode="External"/><Relationship Id="rId10" Type="http://schemas.openxmlformats.org/officeDocument/2006/relationships/hyperlink" Target="https://huggingface.co/datasets/iisc-aim/UVH-26" TargetMode="External"/><Relationship Id="rId4" Type="http://schemas.openxmlformats.org/officeDocument/2006/relationships/hyperlink" Target="https://sih.gov.in" TargetMode="External"/><Relationship Id="rId9" Type="http://schemas.openxmlformats.org/officeDocument/2006/relationships/hyperlink" Target="https://idex.gov.in" TargetMode="External"/><Relationship Id="rId14" Type="http://schemas.openxmlformats.org/officeDocument/2006/relationships/hyperlink" Target="https://YOUR-PROJECT.vercel.ap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418320" y="-320040"/>
            <a:ext cx="566928" cy="493227"/>
          </a:xfrm>
          <a:prstGeom prst="hexagon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911547" y="-569488"/>
            <a:ext cx="566928" cy="493227"/>
          </a:xfrm>
          <a:prstGeom prst="hexagon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911547" y="-70592"/>
            <a:ext cx="566928" cy="493227"/>
          </a:xfrm>
          <a:prstGeom prst="hexagon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404775" y="-320040"/>
            <a:ext cx="566928" cy="493227"/>
          </a:xfrm>
          <a:prstGeom prst="hexagon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895277" y="1668060"/>
            <a:ext cx="457200" cy="397764"/>
          </a:xfrm>
          <a:prstGeom prst="hexagon">
            <a:avLst/>
          </a:prstGeom>
          <a:solidFill>
            <a:srgbClr val="2DD4C8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1128134" y="1367956"/>
            <a:ext cx="457200" cy="397764"/>
          </a:xfrm>
          <a:prstGeom prst="hexagon">
            <a:avLst/>
          </a:prstGeom>
          <a:solidFill>
            <a:srgbClr val="2DD4C8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1428248" y="1617732"/>
            <a:ext cx="457200" cy="397764"/>
          </a:xfrm>
          <a:prstGeom prst="hexagon">
            <a:avLst/>
          </a:prstGeom>
          <a:solidFill>
            <a:srgbClr val="2DD4C8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1199648" y="1925830"/>
            <a:ext cx="457200" cy="397764"/>
          </a:xfrm>
          <a:prstGeom prst="hexagon">
            <a:avLst/>
          </a:prstGeom>
          <a:solidFill>
            <a:srgbClr val="2DD4C8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058778" y="519472"/>
            <a:ext cx="502920" cy="437540"/>
          </a:xfrm>
          <a:prstGeom prst="hexagon">
            <a:avLst/>
          </a:prstGeom>
          <a:solidFill>
            <a:srgbClr val="4A6FA5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9660087" y="51755"/>
            <a:ext cx="502920" cy="437540"/>
          </a:xfrm>
          <a:prstGeom prst="hexagon">
            <a:avLst/>
          </a:prstGeom>
          <a:solidFill>
            <a:srgbClr val="4A6FA5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440680" y="711432"/>
            <a:ext cx="502920" cy="437540"/>
          </a:xfrm>
          <a:prstGeom prst="hexagon">
            <a:avLst/>
          </a:prstGeom>
          <a:solidFill>
            <a:srgbClr val="4A6FA5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052060" y="927850"/>
            <a:ext cx="502920" cy="437540"/>
          </a:xfrm>
          <a:prstGeom prst="hexagon">
            <a:avLst/>
          </a:prstGeom>
          <a:solidFill>
            <a:srgbClr val="4A6FA5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863840" y="365760"/>
            <a:ext cx="1463040" cy="0"/>
          </a:xfrm>
          <a:prstGeom prst="line">
            <a:avLst/>
          </a:prstGeom>
          <a:noFill/>
          <a:ln w="9525">
            <a:solidFill>
              <a:srgbClr val="2DD4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863840" y="822960"/>
            <a:ext cx="1188720" cy="0"/>
          </a:xfrm>
          <a:prstGeom prst="line">
            <a:avLst/>
          </a:prstGeom>
          <a:noFill/>
          <a:ln w="9525">
            <a:solidFill>
              <a:srgbClr val="2DD4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863840" y="1280160"/>
            <a:ext cx="914400" cy="0"/>
          </a:xfrm>
          <a:prstGeom prst="line">
            <a:avLst/>
          </a:prstGeom>
          <a:noFill/>
          <a:ln w="9525">
            <a:solidFill>
              <a:srgbClr val="2DD4C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5"/>
          <p:cNvSpPr txBox="1"/>
          <p:nvPr/>
        </p:nvSpPr>
        <p:spPr>
          <a:xfrm>
            <a:off x="11503152" y="654710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 useBgFill="1">
        <p:nvSpPr>
          <p:cNvPr id="2" name="Rectangle 24">
            <a:extLst>
              <a:ext uri="{FF2B5EF4-FFF2-40B4-BE49-F238E27FC236}">
                <a16:creationId xmlns:a16="http://schemas.microsoft.com/office/drawing/2014/main" id="{8B306CCA-D0A2-D604-78CB-5089CBE44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26">
            <a:extLst>
              <a:ext uri="{FF2B5EF4-FFF2-40B4-BE49-F238E27FC236}">
                <a16:creationId xmlns:a16="http://schemas.microsoft.com/office/drawing/2014/main" id="{83977B67-296F-5E24-351F-1E97F5402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AC5C91D-10BD-3020-8533-8BD561B843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6781739" y="2024038"/>
            <a:ext cx="3203509" cy="3426237"/>
          </a:xfrm>
          <a:prstGeom prst="rect">
            <a:avLst/>
          </a:prstGeom>
        </p:spPr>
      </p:pic>
      <p:sp>
        <p:nvSpPr>
          <p:cNvPr id="24" name="Title 7">
            <a:extLst>
              <a:ext uri="{FF2B5EF4-FFF2-40B4-BE49-F238E27FC236}">
                <a16:creationId xmlns:a16="http://schemas.microsoft.com/office/drawing/2014/main" id="{80EED584-2F5B-0B2B-5EC0-146FBCD92A89}"/>
              </a:ext>
            </a:extLst>
          </p:cNvPr>
          <p:cNvSpPr txBox="1">
            <a:spLocks/>
          </p:cNvSpPr>
          <p:nvPr/>
        </p:nvSpPr>
        <p:spPr>
          <a:xfrm>
            <a:off x="154445" y="243559"/>
            <a:ext cx="10363200" cy="738489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32CE31-F05C-F254-EF6D-C1CB69676036}"/>
              </a:ext>
            </a:extLst>
          </p:cNvPr>
          <p:cNvSpPr txBox="1"/>
          <p:nvPr/>
        </p:nvSpPr>
        <p:spPr>
          <a:xfrm>
            <a:off x="178001" y="2114433"/>
            <a:ext cx="7044641" cy="3382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 </a:t>
            </a:r>
            <a:r>
              <a:rPr lang="en-IN" sz="2000" dirty="0"/>
              <a:t>26228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IN" sz="2000" dirty="0"/>
              <a:t>Trustworthy Computer Vision Integrity Assurance for Data, Models and Inference Outputs in Multi-Contributor Pipelines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  </a:t>
            </a:r>
            <a:r>
              <a:rPr lang="en-IN" sz="2000" dirty="0"/>
              <a:t>Blockchain &amp; Cybersecurity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  </a:t>
            </a:r>
            <a:r>
              <a:rPr lang="en-IN" sz="2000" dirty="0"/>
              <a:t>180775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 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HackHawks405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EE3E578-CE80-89E2-A9E1-AD78F0304E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1969" y="72061"/>
            <a:ext cx="2249850" cy="1062337"/>
          </a:xfrm>
          <a:prstGeom prst="rect">
            <a:avLst/>
          </a:prstGeom>
        </p:spPr>
      </p:pic>
      <p:sp>
        <p:nvSpPr>
          <p:cNvPr id="28" name="Text 17">
            <a:extLst>
              <a:ext uri="{FF2B5EF4-FFF2-40B4-BE49-F238E27FC236}">
                <a16:creationId xmlns:a16="http://schemas.microsoft.com/office/drawing/2014/main" id="{B1CC87CF-5E20-5E13-DC33-7A5D748C3F76}"/>
              </a:ext>
            </a:extLst>
          </p:cNvPr>
          <p:cNvSpPr txBox="1"/>
          <p:nvPr/>
        </p:nvSpPr>
        <p:spPr>
          <a:xfrm>
            <a:off x="3763717" y="706432"/>
            <a:ext cx="5047462" cy="891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DRISHTRA</a:t>
            </a:r>
            <a:endParaRPr lang="en-US" sz="4400" dirty="0"/>
          </a:p>
        </p:txBody>
      </p:sp>
      <p:sp>
        <p:nvSpPr>
          <p:cNvPr id="30" name="Text 18">
            <a:extLst>
              <a:ext uri="{FF2B5EF4-FFF2-40B4-BE49-F238E27FC236}">
                <a16:creationId xmlns:a16="http://schemas.microsoft.com/office/drawing/2014/main" id="{F7173702-03E4-3091-D71B-7630080578B8}"/>
              </a:ext>
            </a:extLst>
          </p:cNvPr>
          <p:cNvSpPr txBox="1"/>
          <p:nvPr/>
        </p:nvSpPr>
        <p:spPr>
          <a:xfrm>
            <a:off x="1491996" y="1566838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Trusted Vision Assurance Fabric — an air-gapped assurance layer for multi-contributor computer-vision pipelines</a:t>
            </a:r>
            <a:endParaRPr lang="en-US" sz="1350" dirty="0"/>
          </a:p>
        </p:txBody>
      </p:sp>
      <p:sp>
        <p:nvSpPr>
          <p:cNvPr id="32" name="Shape 63">
            <a:extLst>
              <a:ext uri="{FF2B5EF4-FFF2-40B4-BE49-F238E27FC236}">
                <a16:creationId xmlns:a16="http://schemas.microsoft.com/office/drawing/2014/main" id="{88BC6A75-67A7-E306-32CA-213183F53E03}"/>
              </a:ext>
            </a:extLst>
          </p:cNvPr>
          <p:cNvSpPr/>
          <p:nvPr/>
        </p:nvSpPr>
        <p:spPr>
          <a:xfrm>
            <a:off x="20255" y="6564362"/>
            <a:ext cx="12188952" cy="310896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3575304" y="104013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DRISHTRA — PROPOSED SOLUTION</a:t>
            </a:r>
            <a:endParaRPr lang="en-US" sz="2400" dirty="0"/>
          </a:p>
        </p:txBody>
      </p:sp>
      <p:pic>
        <p:nvPicPr>
          <p:cNvPr id="4" name="Image 1" descr="sih_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91440"/>
            <a:ext cx="493776" cy="53035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241280" y="10972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
HACKATHON 2026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256032" y="749808"/>
            <a:ext cx="11676888" cy="32004"/>
          </a:xfrm>
          <a:prstGeom prst="rect">
            <a:avLst/>
          </a:prstGeom>
          <a:solidFill>
            <a:srgbClr val="2DD4C8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7" name="Text 3"/>
          <p:cNvSpPr txBox="1"/>
          <p:nvPr/>
        </p:nvSpPr>
        <p:spPr>
          <a:xfrm>
            <a:off x="365760" y="841248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400" b="1" dirty="0"/>
              <a:t>From isolated findings to lifecycle-level assurance.</a:t>
            </a:r>
            <a:r>
              <a:rPr lang="en-IN" sz="1400" dirty="0"/>
              <a:t>  </a:t>
            </a:r>
            <a:r>
              <a:rPr lang="en-IN" sz="1400" i="1" dirty="0"/>
              <a:t>Don't just detect a suspicious artifact. Prove the evidence chain behind the decision.</a:t>
            </a:r>
            <a:r>
              <a:rPr lang="en-IN" sz="1400" dirty="0"/>
              <a:t/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1234440" y="1234440"/>
            <a:ext cx="502920" cy="502920"/>
          </a:xfrm>
          <a:prstGeom prst="ellipse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sz="1400"/>
          </a:p>
        </p:txBody>
      </p:sp>
      <p:sp>
        <p:nvSpPr>
          <p:cNvPr id="9" name="Shape 5"/>
          <p:cNvSpPr/>
          <p:nvPr/>
        </p:nvSpPr>
        <p:spPr>
          <a:xfrm>
            <a:off x="1430579" y="1335024"/>
            <a:ext cx="110642" cy="11064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10" name="Shape 6"/>
          <p:cNvSpPr/>
          <p:nvPr/>
        </p:nvSpPr>
        <p:spPr>
          <a:xfrm flipV="1">
            <a:off x="1385316" y="1455725"/>
            <a:ext cx="201168" cy="150876"/>
          </a:xfrm>
          <a:prstGeom prst="trapezoid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11" name="Text 7"/>
          <p:cNvSpPr txBox="1"/>
          <p:nvPr/>
        </p:nvSpPr>
        <p:spPr>
          <a:xfrm>
            <a:off x="653468" y="1701063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1737360" y="1485900"/>
            <a:ext cx="1335024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  <p:txBody>
          <a:bodyPr/>
          <a:lstStyle/>
          <a:p>
            <a:endParaRPr lang="en-IN" sz="1400"/>
          </a:p>
        </p:txBody>
      </p:sp>
      <p:sp>
        <p:nvSpPr>
          <p:cNvPr id="13" name="Shape 9"/>
          <p:cNvSpPr/>
          <p:nvPr/>
        </p:nvSpPr>
        <p:spPr>
          <a:xfrm>
            <a:off x="2144189" y="1234440"/>
            <a:ext cx="502920" cy="502920"/>
          </a:xfrm>
          <a:prstGeom prst="ellipse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sz="1400"/>
          </a:p>
        </p:txBody>
      </p:sp>
      <p:sp>
        <p:nvSpPr>
          <p:cNvPr id="14" name="Shape 10"/>
          <p:cNvSpPr/>
          <p:nvPr/>
        </p:nvSpPr>
        <p:spPr>
          <a:xfrm>
            <a:off x="2273986" y="1345084"/>
            <a:ext cx="211226" cy="2715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IN" sz="1400"/>
          </a:p>
        </p:txBody>
      </p:sp>
      <p:sp>
        <p:nvSpPr>
          <p:cNvPr id="15" name="Shape 11"/>
          <p:cNvSpPr/>
          <p:nvPr/>
        </p:nvSpPr>
        <p:spPr>
          <a:xfrm>
            <a:off x="2298930" y="1407824"/>
            <a:ext cx="135185" cy="16295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16" name="Shape 12"/>
          <p:cNvSpPr/>
          <p:nvPr/>
        </p:nvSpPr>
        <p:spPr>
          <a:xfrm>
            <a:off x="2298930" y="1462139"/>
            <a:ext cx="135185" cy="16295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17" name="Shape 13"/>
          <p:cNvSpPr/>
          <p:nvPr/>
        </p:nvSpPr>
        <p:spPr>
          <a:xfrm>
            <a:off x="2298930" y="1516455"/>
            <a:ext cx="135185" cy="16295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18" name="Text 14"/>
          <p:cNvSpPr txBox="1"/>
          <p:nvPr/>
        </p:nvSpPr>
        <p:spPr>
          <a:xfrm>
            <a:off x="1749302" y="17697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2682977" y="1499616"/>
            <a:ext cx="1335024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  <p:txBody>
          <a:bodyPr/>
          <a:lstStyle/>
          <a:p>
            <a:endParaRPr lang="en-IN" sz="1400"/>
          </a:p>
        </p:txBody>
      </p:sp>
      <p:sp>
        <p:nvSpPr>
          <p:cNvPr id="20" name="Shape 16"/>
          <p:cNvSpPr/>
          <p:nvPr/>
        </p:nvSpPr>
        <p:spPr>
          <a:xfrm>
            <a:off x="3081095" y="1248156"/>
            <a:ext cx="502920" cy="502920"/>
          </a:xfrm>
          <a:prstGeom prst="ellipse">
            <a:avLst/>
          </a:prstGeom>
          <a:ln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IN" sz="1400"/>
          </a:p>
        </p:txBody>
      </p:sp>
      <p:sp>
        <p:nvSpPr>
          <p:cNvPr id="21" name="Shape 17"/>
          <p:cNvSpPr/>
          <p:nvPr/>
        </p:nvSpPr>
        <p:spPr>
          <a:xfrm>
            <a:off x="3204030" y="1345083"/>
            <a:ext cx="281635" cy="281635"/>
          </a:xfrm>
          <a:prstGeom prst="cub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22" name="Text 18"/>
          <p:cNvSpPr txBox="1"/>
          <p:nvPr/>
        </p:nvSpPr>
        <p:spPr>
          <a:xfrm>
            <a:off x="2740182" y="17697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4018001" y="1302085"/>
            <a:ext cx="502920" cy="502920"/>
          </a:xfrm>
          <a:prstGeom prst="ellipse">
            <a:avLst/>
          </a:prstGeom>
          <a:solidFill>
            <a:srgbClr val="5B647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25" name="Shape 21"/>
          <p:cNvSpPr/>
          <p:nvPr/>
        </p:nvSpPr>
        <p:spPr>
          <a:xfrm>
            <a:off x="4107555" y="1394003"/>
            <a:ext cx="321869" cy="321869"/>
          </a:xfrm>
          <a:prstGeom prst="gear6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26" name="Text 22"/>
          <p:cNvSpPr txBox="1"/>
          <p:nvPr/>
        </p:nvSpPr>
        <p:spPr>
          <a:xfrm>
            <a:off x="3678434" y="17697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 flipV="1">
            <a:off x="4518978" y="1524600"/>
            <a:ext cx="577958" cy="25305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  <p:txBody>
          <a:bodyPr/>
          <a:lstStyle/>
          <a:p>
            <a:endParaRPr lang="en-IN" sz="1400" dirty="0"/>
          </a:p>
        </p:txBody>
      </p:sp>
      <p:sp>
        <p:nvSpPr>
          <p:cNvPr id="28" name="Shape 24"/>
          <p:cNvSpPr/>
          <p:nvPr/>
        </p:nvSpPr>
        <p:spPr>
          <a:xfrm>
            <a:off x="5080890" y="1288161"/>
            <a:ext cx="502920" cy="502920"/>
          </a:xfrm>
          <a:prstGeom prst="ellipse">
            <a:avLst/>
          </a:prstGeom>
          <a:solidFill>
            <a:srgbClr val="2DD4C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29" name="Shape 25"/>
          <p:cNvSpPr/>
          <p:nvPr/>
        </p:nvSpPr>
        <p:spPr>
          <a:xfrm>
            <a:off x="5172990" y="1375162"/>
            <a:ext cx="311810" cy="276606"/>
          </a:xfrm>
          <a:custGeom>
            <a:avLst/>
            <a:gdLst/>
            <a:ahLst/>
            <a:cxnLst/>
            <a:rect l="l" t="t" r="r" b="b"/>
            <a:pathLst>
              <a:path w="311810" h="276606">
                <a:moveTo>
                  <a:pt x="0" y="138303"/>
                </a:moveTo>
                <a:quadBezTo>
                  <a:pt x="155905" y="0"/>
                  <a:pt x="311810" y="138303"/>
                </a:quadBezTo>
                <a:quadBezTo>
                  <a:pt x="155905" y="276606"/>
                  <a:pt x="0" y="138303"/>
                </a:quad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30" name="Shape 26"/>
          <p:cNvSpPr/>
          <p:nvPr/>
        </p:nvSpPr>
        <p:spPr>
          <a:xfrm>
            <a:off x="5280835" y="1468840"/>
            <a:ext cx="90526" cy="90526"/>
          </a:xfrm>
          <a:prstGeom prst="ellipse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31" name="Text 27"/>
          <p:cNvSpPr txBox="1"/>
          <p:nvPr/>
        </p:nvSpPr>
        <p:spPr>
          <a:xfrm>
            <a:off x="4767862" y="177005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7598664" y="1638660"/>
            <a:ext cx="1335024" cy="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  <p:txBody>
          <a:bodyPr/>
          <a:lstStyle/>
          <a:p>
            <a:endParaRPr lang="en-IN" sz="1400"/>
          </a:p>
        </p:txBody>
      </p:sp>
      <p:sp>
        <p:nvSpPr>
          <p:cNvPr id="33" name="Shape 29"/>
          <p:cNvSpPr/>
          <p:nvPr/>
        </p:nvSpPr>
        <p:spPr>
          <a:xfrm>
            <a:off x="8909807" y="1371503"/>
            <a:ext cx="502920" cy="502920"/>
          </a:xfrm>
          <a:prstGeom prst="ellipse">
            <a:avLst/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txBody>
          <a:bodyPr/>
          <a:lstStyle/>
          <a:p>
            <a:endParaRPr lang="en-IN" sz="1400"/>
          </a:p>
        </p:txBody>
      </p:sp>
      <p:sp>
        <p:nvSpPr>
          <p:cNvPr id="34" name="Shape 30"/>
          <p:cNvSpPr/>
          <p:nvPr/>
        </p:nvSpPr>
        <p:spPr>
          <a:xfrm>
            <a:off x="9047477" y="1514261"/>
            <a:ext cx="251460" cy="291694"/>
          </a:xfrm>
          <a:custGeom>
            <a:avLst/>
            <a:gdLst/>
            <a:ahLst/>
            <a:cxnLst/>
            <a:rect l="l" t="t" r="r" b="b"/>
            <a:pathLst>
              <a:path w="251460" h="291694">
                <a:moveTo>
                  <a:pt x="0" y="0"/>
                </a:moveTo>
                <a:lnTo>
                  <a:pt x="251460" y="0"/>
                </a:lnTo>
                <a:lnTo>
                  <a:pt x="251460" y="160431"/>
                </a:lnTo>
                <a:lnTo>
                  <a:pt x="125730" y="291694"/>
                </a:lnTo>
                <a:lnTo>
                  <a:pt x="0" y="160431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35" name="Text 31"/>
          <p:cNvSpPr txBox="1"/>
          <p:nvPr/>
        </p:nvSpPr>
        <p:spPr>
          <a:xfrm>
            <a:off x="8563356" y="1960570"/>
            <a:ext cx="1234440" cy="261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</a:t>
            </a:r>
            <a:endParaRPr lang="en-US" sz="1400" dirty="0"/>
          </a:p>
        </p:txBody>
      </p:sp>
      <p:sp>
        <p:nvSpPr>
          <p:cNvPr id="36" name="Shape 32"/>
          <p:cNvSpPr/>
          <p:nvPr/>
        </p:nvSpPr>
        <p:spPr>
          <a:xfrm>
            <a:off x="365760" y="2331720"/>
            <a:ext cx="82296" cy="292608"/>
          </a:xfrm>
          <a:prstGeom prst="rect">
            <a:avLst/>
          </a:prstGeom>
          <a:solidFill>
            <a:srgbClr val="4A6FA5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37" name="Text 33"/>
          <p:cNvSpPr txBox="1"/>
          <p:nvPr/>
        </p:nvSpPr>
        <p:spPr>
          <a:xfrm>
            <a:off x="530352" y="2304288"/>
            <a:ext cx="5321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PROPOSE &amp; WHY IT MATTERS</a:t>
            </a:r>
            <a:endParaRPr lang="en-US" sz="1400" dirty="0"/>
          </a:p>
        </p:txBody>
      </p:sp>
      <p:sp>
        <p:nvSpPr>
          <p:cNvPr id="38" name="Shape 34"/>
          <p:cNvSpPr/>
          <p:nvPr/>
        </p:nvSpPr>
        <p:spPr>
          <a:xfrm>
            <a:off x="365760" y="2715768"/>
            <a:ext cx="292608" cy="292608"/>
          </a:xfrm>
          <a:prstGeom prst="ellipse">
            <a:avLst/>
          </a:prstGeom>
          <a:solidFill>
            <a:srgbClr val="4A6FA5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39" name="Text 35"/>
          <p:cNvSpPr txBox="1"/>
          <p:nvPr/>
        </p:nvSpPr>
        <p:spPr>
          <a:xfrm>
            <a:off x="365760" y="2715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0" name="Text 36"/>
          <p:cNvSpPr txBox="1"/>
          <p:nvPr/>
        </p:nvSpPr>
        <p:spPr>
          <a:xfrm>
            <a:off x="804672" y="2670048"/>
            <a:ext cx="4202509" cy="639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assurance fabric, not another scanner
</a:t>
            </a:r>
            <a:r>
              <a:rPr lang="en-US" sz="14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DRISHTRA reconstructs one verifiable evidence chain across the full CV supply chain — not isolated detectors bundled in a dashboard.</a:t>
            </a:r>
            <a:endParaRPr lang="en-US" sz="1400" dirty="0"/>
          </a:p>
        </p:txBody>
      </p:sp>
      <p:sp>
        <p:nvSpPr>
          <p:cNvPr id="41" name="Shape 37"/>
          <p:cNvSpPr/>
          <p:nvPr/>
        </p:nvSpPr>
        <p:spPr>
          <a:xfrm>
            <a:off x="351971" y="3630603"/>
            <a:ext cx="292608" cy="292608"/>
          </a:xfrm>
          <a:prstGeom prst="ellipse">
            <a:avLst/>
          </a:prstGeom>
          <a:solidFill>
            <a:srgbClr val="4A6FA5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42" name="Text 38"/>
          <p:cNvSpPr txBox="1"/>
          <p:nvPr/>
        </p:nvSpPr>
        <p:spPr>
          <a:xfrm>
            <a:off x="351971" y="363060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3" name="Text 39"/>
          <p:cNvSpPr txBox="1"/>
          <p:nvPr/>
        </p:nvSpPr>
        <p:spPr>
          <a:xfrm>
            <a:off x="790883" y="3584883"/>
            <a:ext cx="4216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Evidence-Carrying AI
</a:t>
            </a:r>
            <a:r>
              <a:rPr lang="en-US" sz="14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protected result ships with prediction + provenance + integrity evidence + coverage, never a bare confidence value.</a:t>
            </a:r>
            <a:endParaRPr lang="en-US" sz="1400" dirty="0"/>
          </a:p>
        </p:txBody>
      </p:sp>
      <p:sp>
        <p:nvSpPr>
          <p:cNvPr id="44" name="Shape 40"/>
          <p:cNvSpPr/>
          <p:nvPr/>
        </p:nvSpPr>
        <p:spPr>
          <a:xfrm>
            <a:off x="365760" y="4433743"/>
            <a:ext cx="292608" cy="292608"/>
          </a:xfrm>
          <a:prstGeom prst="ellipse">
            <a:avLst/>
          </a:prstGeom>
          <a:solidFill>
            <a:srgbClr val="4A6FA5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45" name="Text 41"/>
          <p:cNvSpPr txBox="1"/>
          <p:nvPr/>
        </p:nvSpPr>
        <p:spPr>
          <a:xfrm>
            <a:off x="365760" y="443374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6" name="Text 42"/>
          <p:cNvSpPr txBox="1"/>
          <p:nvPr/>
        </p:nvSpPr>
        <p:spPr>
          <a:xfrm>
            <a:off x="731520" y="4462986"/>
            <a:ext cx="4216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Contributor-Level Risk, Fully Air-Gapped
</a:t>
            </a:r>
            <a:r>
              <a:rPr lang="en-US" sz="14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sample-level evidence into contributor/source-level risk; runs fully air-gapped; degrades gracefully under black-box access.</a:t>
            </a:r>
            <a:endParaRPr lang="en-US" sz="1400" dirty="0"/>
          </a:p>
        </p:txBody>
      </p:sp>
      <p:sp>
        <p:nvSpPr>
          <p:cNvPr id="47" name="Shape 43"/>
          <p:cNvSpPr/>
          <p:nvPr/>
        </p:nvSpPr>
        <p:spPr>
          <a:xfrm>
            <a:off x="425123" y="5450738"/>
            <a:ext cx="292608" cy="292608"/>
          </a:xfrm>
          <a:prstGeom prst="ellipse">
            <a:avLst/>
          </a:prstGeom>
          <a:solidFill>
            <a:srgbClr val="4A6FA5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48" name="Text 44"/>
          <p:cNvSpPr txBox="1"/>
          <p:nvPr/>
        </p:nvSpPr>
        <p:spPr>
          <a:xfrm>
            <a:off x="409883" y="545073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9" name="Text 45"/>
          <p:cNvSpPr txBox="1"/>
          <p:nvPr/>
        </p:nvSpPr>
        <p:spPr>
          <a:xfrm>
            <a:off x="790883" y="5440680"/>
            <a:ext cx="4216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stays in command
</a:t>
            </a:r>
            <a:r>
              <a:rPr lang="en-US" sz="14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a machine-readable Assurance Case — Accept / Review / Quarantine — for human authorization, never an automated verdict.</a:t>
            </a:r>
            <a:endParaRPr lang="en-US" sz="1400" dirty="0"/>
          </a:p>
        </p:txBody>
      </p:sp>
      <p:sp>
        <p:nvSpPr>
          <p:cNvPr id="50" name="Shape 46"/>
          <p:cNvSpPr/>
          <p:nvPr/>
        </p:nvSpPr>
        <p:spPr>
          <a:xfrm>
            <a:off x="6263640" y="2331720"/>
            <a:ext cx="82296" cy="292608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51" name="Text 47"/>
          <p:cNvSpPr txBox="1"/>
          <p:nvPr/>
        </p:nvSpPr>
        <p:spPr>
          <a:xfrm>
            <a:off x="6428232" y="2304288"/>
            <a:ext cx="5413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UNIQUE</a:t>
            </a:r>
            <a:endParaRPr lang="en-US" sz="1400" dirty="0"/>
          </a:p>
        </p:txBody>
      </p:sp>
      <p:sp>
        <p:nvSpPr>
          <p:cNvPr id="52" name="Shape 48"/>
          <p:cNvSpPr/>
          <p:nvPr/>
        </p:nvSpPr>
        <p:spPr>
          <a:xfrm>
            <a:off x="6263640" y="2715768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53" name="Text 49"/>
          <p:cNvSpPr txBox="1"/>
          <p:nvPr/>
        </p:nvSpPr>
        <p:spPr>
          <a:xfrm>
            <a:off x="6263640" y="2715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4" name="Text 50"/>
          <p:cNvSpPr txBox="1"/>
          <p:nvPr/>
        </p:nvSpPr>
        <p:spPr>
          <a:xfrm>
            <a:off x="6702552" y="2670048"/>
            <a:ext cx="420250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Evidence Convergence:
</a:t>
            </a:r>
            <a:r>
              <a:rPr lang="en-IN" sz="1400" dirty="0"/>
              <a:t>Correlates independent findings across boundaries instead of treating them as isolated alarms</a:t>
            </a:r>
            <a:r>
              <a:rPr lang="en-US" sz="14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55" name="Shape 51"/>
          <p:cNvSpPr/>
          <p:nvPr/>
        </p:nvSpPr>
        <p:spPr>
          <a:xfrm>
            <a:off x="6263640" y="3374136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56" name="Text 52"/>
          <p:cNvSpPr txBox="1"/>
          <p:nvPr/>
        </p:nvSpPr>
        <p:spPr>
          <a:xfrm>
            <a:off x="6263640" y="3374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7" name="Text 53"/>
          <p:cNvSpPr txBox="1"/>
          <p:nvPr/>
        </p:nvSpPr>
        <p:spPr>
          <a:xfrm>
            <a:off x="6702552" y="3328416"/>
            <a:ext cx="3721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Evidence Tracking
</a:t>
            </a:r>
            <a:r>
              <a:rPr lang="en-IN" sz="1400" dirty="0"/>
              <a:t>Records both supporting evidence and counter-evidence to build balanced cases.</a:t>
            </a:r>
            <a:endParaRPr lang="en-US" sz="1400" dirty="0"/>
          </a:p>
        </p:txBody>
      </p:sp>
      <p:sp>
        <p:nvSpPr>
          <p:cNvPr id="58" name="Shape 54"/>
          <p:cNvSpPr/>
          <p:nvPr/>
        </p:nvSpPr>
        <p:spPr>
          <a:xfrm>
            <a:off x="6263640" y="4032504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59" name="Text 55"/>
          <p:cNvSpPr txBox="1"/>
          <p:nvPr/>
        </p:nvSpPr>
        <p:spPr>
          <a:xfrm>
            <a:off x="6263640" y="4032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0" name="Text 56"/>
          <p:cNvSpPr txBox="1"/>
          <p:nvPr/>
        </p:nvSpPr>
        <p:spPr>
          <a:xfrm>
            <a:off x="6702552" y="3986784"/>
            <a:ext cx="3721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Traceability
</a:t>
            </a:r>
            <a:r>
              <a:rPr lang="en-IN" sz="1400" dirty="0"/>
              <a:t>Dynamically traces a suspicious inference back to its exact origin in the supply chain.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61" name="Shape 57"/>
          <p:cNvSpPr/>
          <p:nvPr/>
        </p:nvSpPr>
        <p:spPr>
          <a:xfrm>
            <a:off x="6263640" y="4690872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62" name="Text 58"/>
          <p:cNvSpPr txBox="1"/>
          <p:nvPr/>
        </p:nvSpPr>
        <p:spPr>
          <a:xfrm>
            <a:off x="6263640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63" name="Text 59"/>
          <p:cNvSpPr txBox="1"/>
          <p:nvPr/>
        </p:nvSpPr>
        <p:spPr>
          <a:xfrm>
            <a:off x="6702552" y="4645152"/>
            <a:ext cx="3721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Coverage Boundaries
</a:t>
            </a:r>
            <a:r>
              <a:rPr lang="en-IN" sz="1200" dirty="0"/>
              <a:t>Preserves NOT TESTED and INCONCLUSIVE states rather than assuming safety.</a:t>
            </a:r>
            <a:endParaRPr lang="en-US" sz="1200" dirty="0"/>
          </a:p>
        </p:txBody>
      </p:sp>
      <p:sp>
        <p:nvSpPr>
          <p:cNvPr id="64" name="Shape 60"/>
          <p:cNvSpPr/>
          <p:nvPr/>
        </p:nvSpPr>
        <p:spPr>
          <a:xfrm>
            <a:off x="6263640" y="5349240"/>
            <a:ext cx="292608" cy="29260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65" name="Text 61"/>
          <p:cNvSpPr txBox="1"/>
          <p:nvPr/>
        </p:nvSpPr>
        <p:spPr>
          <a:xfrm>
            <a:off x="6263640" y="5349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66" name="Text 62"/>
          <p:cNvSpPr txBox="1"/>
          <p:nvPr/>
        </p:nvSpPr>
        <p:spPr>
          <a:xfrm>
            <a:off x="6702552" y="5303520"/>
            <a:ext cx="3721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</a:t>
            </a: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I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Every recommendation and decision is Ed25519-signed and hash-chained, so any </a:t>
            </a:r>
            <a:r>
              <a:rPr lang="en-I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later edit is detected</a:t>
            </a:r>
            <a:r>
              <a:rPr lang="en-I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7" name="Shape 63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68" name="Text 64"/>
          <p:cNvSpPr txBox="1"/>
          <p:nvPr/>
        </p:nvSpPr>
        <p:spPr>
          <a:xfrm>
            <a:off x="256032" y="6547104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— DRISHTRA · Trusted Vision Assurance Fabric · PS 26228</a:t>
            </a:r>
            <a:endParaRPr lang="en-US" sz="1400" dirty="0"/>
          </a:p>
        </p:txBody>
      </p:sp>
      <p:sp>
        <p:nvSpPr>
          <p:cNvPr id="69" name="Text 65"/>
          <p:cNvSpPr txBox="1"/>
          <p:nvPr/>
        </p:nvSpPr>
        <p:spPr>
          <a:xfrm>
            <a:off x="11503152" y="654710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7D92D38-7760-D9B6-9355-DFDD0A14EF41}"/>
              </a:ext>
            </a:extLst>
          </p:cNvPr>
          <p:cNvSpPr txBox="1"/>
          <p:nvPr/>
        </p:nvSpPr>
        <p:spPr>
          <a:xfrm>
            <a:off x="10638971" y="6168571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14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C48C2C9-1E1F-E0EF-26D4-CEDFE7D4C691}"/>
              </a:ext>
            </a:extLst>
          </p:cNvPr>
          <p:cNvSpPr txBox="1"/>
          <p:nvPr/>
        </p:nvSpPr>
        <p:spPr>
          <a:xfrm>
            <a:off x="15240" y="366993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75" name="Oval 74" descr="Your startup LOGO">
            <a:extLst>
              <a:ext uri="{FF2B5EF4-FFF2-40B4-BE49-F238E27FC236}">
                <a16:creationId xmlns:a16="http://schemas.microsoft.com/office/drawing/2014/main" id="{793FDA3C-4B51-AB95-E002-DDDB9FAB1EF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17366" y="230170"/>
            <a:ext cx="2249850" cy="26780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HackHawks405</a:t>
            </a:r>
            <a:endParaRPr lang="en-IN" dirty="0"/>
          </a:p>
        </p:txBody>
      </p:sp>
      <p:pic>
        <p:nvPicPr>
          <p:cNvPr id="77" name="Picture 76">
            <a:hlinkClick r:id="rId4"/>
            <a:extLst>
              <a:ext uri="{FF2B5EF4-FFF2-40B4-BE49-F238E27FC236}">
                <a16:creationId xmlns:a16="http://schemas.microsoft.com/office/drawing/2014/main" id="{D47D6715-6CCB-D29C-FF95-A2CF3F8104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14756" y="808300"/>
            <a:ext cx="631880" cy="631880"/>
          </a:xfrm>
          <a:prstGeom prst="rect">
            <a:avLst/>
          </a:prstGeom>
        </p:spPr>
      </p:pic>
      <p:sp>
        <p:nvSpPr>
          <p:cNvPr id="73" name="Shape 8">
            <a:extLst>
              <a:ext uri="{FF2B5EF4-FFF2-40B4-BE49-F238E27FC236}">
                <a16:creationId xmlns:a16="http://schemas.microsoft.com/office/drawing/2014/main" id="{91F240A7-5627-4042-49C8-9EB2BE816571}"/>
              </a:ext>
            </a:extLst>
          </p:cNvPr>
          <p:cNvSpPr/>
          <p:nvPr/>
        </p:nvSpPr>
        <p:spPr>
          <a:xfrm>
            <a:off x="1489264" y="2290570"/>
            <a:ext cx="3909023" cy="3578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endParaRPr lang="en-IN" sz="1400"/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FA83A3A1-688D-FD6D-54FE-895701A8E082}"/>
              </a:ext>
            </a:extLst>
          </p:cNvPr>
          <p:cNvCxnSpPr>
            <a:cxnSpLocks/>
            <a:stCxn id="8" idx="4"/>
            <a:endCxn id="73" idx="0"/>
          </p:cNvCxnSpPr>
          <p:nvPr/>
        </p:nvCxnSpPr>
        <p:spPr>
          <a:xfrm>
            <a:off x="1485900" y="1737360"/>
            <a:ext cx="3364" cy="5532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D35A00B9-2E50-E492-C739-C77BEC3A0002}"/>
              </a:ext>
            </a:extLst>
          </p:cNvPr>
          <p:cNvCxnSpPr>
            <a:cxnSpLocks/>
          </p:cNvCxnSpPr>
          <p:nvPr/>
        </p:nvCxnSpPr>
        <p:spPr>
          <a:xfrm>
            <a:off x="2363158" y="1725059"/>
            <a:ext cx="3364" cy="5532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6D649B5-8A13-DE43-5534-9957EFD046BE}"/>
              </a:ext>
            </a:extLst>
          </p:cNvPr>
          <p:cNvCxnSpPr>
            <a:cxnSpLocks/>
          </p:cNvCxnSpPr>
          <p:nvPr/>
        </p:nvCxnSpPr>
        <p:spPr>
          <a:xfrm>
            <a:off x="3372573" y="1752492"/>
            <a:ext cx="3364" cy="5532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C39AA711-4978-C6F7-D284-BE9F11F72D59}"/>
              </a:ext>
            </a:extLst>
          </p:cNvPr>
          <p:cNvCxnSpPr>
            <a:cxnSpLocks/>
          </p:cNvCxnSpPr>
          <p:nvPr/>
        </p:nvCxnSpPr>
        <p:spPr>
          <a:xfrm>
            <a:off x="4299089" y="1767494"/>
            <a:ext cx="3364" cy="5532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B0245550-D8DE-3FA5-A179-9BC12ABF0402}"/>
              </a:ext>
            </a:extLst>
          </p:cNvPr>
          <p:cNvCxnSpPr>
            <a:cxnSpLocks/>
          </p:cNvCxnSpPr>
          <p:nvPr/>
        </p:nvCxnSpPr>
        <p:spPr>
          <a:xfrm>
            <a:off x="5335046" y="1714918"/>
            <a:ext cx="3364" cy="5532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0" name="Picture 89">
            <a:extLst>
              <a:ext uri="{FF2B5EF4-FFF2-40B4-BE49-F238E27FC236}">
                <a16:creationId xmlns:a16="http://schemas.microsoft.com/office/drawing/2014/main" id="{FAFCB20F-9002-69E9-5CBA-9DE3074B363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483" t="17203" r="32544" b="8848"/>
          <a:stretch>
            <a:fillRect/>
          </a:stretch>
        </p:blipFill>
        <p:spPr>
          <a:xfrm rot="16200000">
            <a:off x="7031953" y="1288357"/>
            <a:ext cx="670445" cy="752367"/>
          </a:xfrm>
          <a:prstGeom prst="rect">
            <a:avLst/>
          </a:prstGeom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pic>
      <p:sp>
        <p:nvSpPr>
          <p:cNvPr id="92" name="Text 27">
            <a:extLst>
              <a:ext uri="{FF2B5EF4-FFF2-40B4-BE49-F238E27FC236}">
                <a16:creationId xmlns:a16="http://schemas.microsoft.com/office/drawing/2014/main" id="{6972C142-3DB6-8B7E-D89C-DCB33E44B217}"/>
              </a:ext>
            </a:extLst>
          </p:cNvPr>
          <p:cNvSpPr txBox="1"/>
          <p:nvPr/>
        </p:nvSpPr>
        <p:spPr>
          <a:xfrm>
            <a:off x="6525855" y="1976065"/>
            <a:ext cx="1742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/>
              <a:t>Drishtra</a:t>
            </a:r>
            <a:r>
              <a:rPr lang="en-US" sz="1400" b="1" dirty="0"/>
              <a:t> Correlation</a:t>
            </a:r>
          </a:p>
        </p:txBody>
      </p: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E90FB1C0-2C0C-9407-E254-5E2ECB216FA8}"/>
              </a:ext>
            </a:extLst>
          </p:cNvPr>
          <p:cNvCxnSpPr>
            <a:cxnSpLocks/>
            <a:stCxn id="33" idx="6"/>
          </p:cNvCxnSpPr>
          <p:nvPr/>
        </p:nvCxnSpPr>
        <p:spPr>
          <a:xfrm flipV="1">
            <a:off x="9412727" y="1345084"/>
            <a:ext cx="773689" cy="27787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991742A0-3A46-753B-F128-33AE4B75C03C}"/>
              </a:ext>
            </a:extLst>
          </p:cNvPr>
          <p:cNvCxnSpPr>
            <a:stCxn id="33" idx="6"/>
          </p:cNvCxnSpPr>
          <p:nvPr/>
        </p:nvCxnSpPr>
        <p:spPr>
          <a:xfrm>
            <a:off x="9412727" y="1622963"/>
            <a:ext cx="684536" cy="375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: Elbow 109">
            <a:extLst>
              <a:ext uri="{FF2B5EF4-FFF2-40B4-BE49-F238E27FC236}">
                <a16:creationId xmlns:a16="http://schemas.microsoft.com/office/drawing/2014/main" id="{E03EC786-5EAB-55B3-F674-E9F7E1E72438}"/>
              </a:ext>
            </a:extLst>
          </p:cNvPr>
          <p:cNvCxnSpPr>
            <a:cxnSpLocks/>
            <a:stCxn id="33" idx="6"/>
            <a:endCxn id="118" idx="1"/>
          </p:cNvCxnSpPr>
          <p:nvPr/>
        </p:nvCxnSpPr>
        <p:spPr>
          <a:xfrm>
            <a:off x="9412727" y="1622963"/>
            <a:ext cx="704931" cy="35753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5DEAB067-84D8-9443-4BB9-8D7BE6279B3F}"/>
              </a:ext>
            </a:extLst>
          </p:cNvPr>
          <p:cNvSpPr txBox="1"/>
          <p:nvPr/>
        </p:nvSpPr>
        <p:spPr>
          <a:xfrm>
            <a:off x="10175045" y="1120219"/>
            <a:ext cx="684033" cy="307777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400" dirty="0"/>
              <a:t>Accept</a:t>
            </a:r>
            <a:endParaRPr lang="en-IN" sz="14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2D3B139-8721-C8E4-5942-5EABF5F13E3A}"/>
              </a:ext>
            </a:extLst>
          </p:cNvPr>
          <p:cNvSpPr txBox="1"/>
          <p:nvPr/>
        </p:nvSpPr>
        <p:spPr>
          <a:xfrm>
            <a:off x="10131924" y="1491696"/>
            <a:ext cx="708720" cy="30777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400" dirty="0"/>
              <a:t>Review</a:t>
            </a:r>
            <a:endParaRPr lang="en-IN" sz="1400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BD30D3A0-1D29-5928-632B-9407491C0222}"/>
              </a:ext>
            </a:extLst>
          </p:cNvPr>
          <p:cNvSpPr txBox="1"/>
          <p:nvPr/>
        </p:nvSpPr>
        <p:spPr>
          <a:xfrm>
            <a:off x="10117658" y="1826611"/>
            <a:ext cx="1011302" cy="307777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1400" dirty="0"/>
              <a:t>Quarantine</a:t>
            </a:r>
            <a:endParaRPr lang="en-IN" sz="1400" dirty="0"/>
          </a:p>
        </p:txBody>
      </p:sp>
      <p:sp>
        <p:nvSpPr>
          <p:cNvPr id="150" name="Free-form: Shape 149">
            <a:extLst>
              <a:ext uri="{FF2B5EF4-FFF2-40B4-BE49-F238E27FC236}">
                <a16:creationId xmlns:a16="http://schemas.microsoft.com/office/drawing/2014/main" id="{03250AF1-C9A8-B765-4024-62C4352AA400}"/>
              </a:ext>
            </a:extLst>
          </p:cNvPr>
          <p:cNvSpPr/>
          <p:nvPr/>
        </p:nvSpPr>
        <p:spPr>
          <a:xfrm>
            <a:off x="3357349" y="1569493"/>
            <a:ext cx="3988426" cy="1409289"/>
          </a:xfrm>
          <a:custGeom>
            <a:avLst/>
            <a:gdLst>
              <a:gd name="csX0" fmla="*/ 0 w 3988426"/>
              <a:gd name="csY0" fmla="*/ 750626 h 1409289"/>
              <a:gd name="csX1" fmla="*/ 2238233 w 3988426"/>
              <a:gd name="csY1" fmla="*/ 1392071 h 1409289"/>
              <a:gd name="csX2" fmla="*/ 2906973 w 3988426"/>
              <a:gd name="csY2" fmla="*/ 136477 h 1409289"/>
              <a:gd name="csX3" fmla="*/ 3821373 w 3988426"/>
              <a:gd name="csY3" fmla="*/ 122829 h 1409289"/>
              <a:gd name="csX4" fmla="*/ 3985147 w 3988426"/>
              <a:gd name="csY4" fmla="*/ 0 h 14092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988426" h="1409289">
                <a:moveTo>
                  <a:pt x="0" y="750626"/>
                </a:moveTo>
                <a:cubicBezTo>
                  <a:pt x="876869" y="1122527"/>
                  <a:pt x="1753738" y="1494429"/>
                  <a:pt x="2238233" y="1392071"/>
                </a:cubicBezTo>
                <a:cubicBezTo>
                  <a:pt x="2722728" y="1289713"/>
                  <a:pt x="2643116" y="348017"/>
                  <a:pt x="2906973" y="136477"/>
                </a:cubicBezTo>
                <a:cubicBezTo>
                  <a:pt x="3170830" y="-75063"/>
                  <a:pt x="3641677" y="145575"/>
                  <a:pt x="3821373" y="122829"/>
                </a:cubicBezTo>
                <a:cubicBezTo>
                  <a:pt x="4001069" y="100083"/>
                  <a:pt x="3993108" y="50041"/>
                  <a:pt x="3985147" y="0"/>
                </a:cubicBezTo>
              </a:path>
            </a:pathLst>
          </a:cu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8E02DC2-1362-86DD-CEBD-C4CA10B90C03}"/>
              </a:ext>
            </a:extLst>
          </p:cNvPr>
          <p:cNvSpPr/>
          <p:nvPr/>
        </p:nvSpPr>
        <p:spPr>
          <a:xfrm>
            <a:off x="5226912" y="2248593"/>
            <a:ext cx="198371" cy="988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FE5CD9B5-7464-BEC8-D2C8-E18C66616FAB}"/>
              </a:ext>
            </a:extLst>
          </p:cNvPr>
          <p:cNvSpPr/>
          <p:nvPr/>
        </p:nvSpPr>
        <p:spPr>
          <a:xfrm>
            <a:off x="1385316" y="2278144"/>
            <a:ext cx="198371" cy="988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4A103DCB-BE9C-A42E-263B-0E9D5439A35D}"/>
              </a:ext>
            </a:extLst>
          </p:cNvPr>
          <p:cNvSpPr/>
          <p:nvPr/>
        </p:nvSpPr>
        <p:spPr>
          <a:xfrm>
            <a:off x="2267336" y="2252390"/>
            <a:ext cx="198371" cy="988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01B23CD7-F232-0FA6-A254-1E8B2E48B86F}"/>
              </a:ext>
            </a:extLst>
          </p:cNvPr>
          <p:cNvSpPr/>
          <p:nvPr/>
        </p:nvSpPr>
        <p:spPr>
          <a:xfrm>
            <a:off x="3276751" y="2278144"/>
            <a:ext cx="198371" cy="988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14A3C16D-894B-2F8C-5AE0-5221BFE3424E}"/>
              </a:ext>
            </a:extLst>
          </p:cNvPr>
          <p:cNvSpPr/>
          <p:nvPr/>
        </p:nvSpPr>
        <p:spPr>
          <a:xfrm>
            <a:off x="4203267" y="2292359"/>
            <a:ext cx="198371" cy="988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7" name="Isosceles Triangle 86">
            <a:extLst>
              <a:ext uri="{FF2B5EF4-FFF2-40B4-BE49-F238E27FC236}">
                <a16:creationId xmlns:a16="http://schemas.microsoft.com/office/drawing/2014/main" id="{037B70A5-0965-9ECA-6121-0B90516D890B}"/>
              </a:ext>
            </a:extLst>
          </p:cNvPr>
          <p:cNvSpPr/>
          <p:nvPr/>
        </p:nvSpPr>
        <p:spPr>
          <a:xfrm rot="5571608">
            <a:off x="6830418" y="1599958"/>
            <a:ext cx="207358" cy="137935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930074" y="134269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2400" dirty="0"/>
          </a:p>
        </p:txBody>
      </p:sp>
      <p:pic>
        <p:nvPicPr>
          <p:cNvPr id="4" name="Image 1" descr="sih_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91440"/>
            <a:ext cx="493776" cy="53035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241280" y="10972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
HACKATHON 2026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256032" y="749808"/>
            <a:ext cx="11676888" cy="32004"/>
          </a:xfrm>
          <a:prstGeom prst="rect">
            <a:avLst/>
          </a:prstGeom>
          <a:solidFill>
            <a:srgbClr val="2DD4C8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7" name="Shape 3"/>
          <p:cNvSpPr/>
          <p:nvPr/>
        </p:nvSpPr>
        <p:spPr>
          <a:xfrm>
            <a:off x="365760" y="896112"/>
            <a:ext cx="1316736" cy="438912"/>
          </a:xfrm>
          <a:prstGeom prst="chevron">
            <a:avLst/>
          </a:prstGeom>
          <a:solidFill>
            <a:srgbClr val="0E1A2B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/>
          <a:lstStyle/>
          <a:p>
            <a:endParaRPr lang="en-IN" sz="1400"/>
          </a:p>
        </p:txBody>
      </p:sp>
      <p:sp>
        <p:nvSpPr>
          <p:cNvPr id="8" name="Text 4"/>
          <p:cNvSpPr txBox="1"/>
          <p:nvPr/>
        </p:nvSpPr>
        <p:spPr>
          <a:xfrm>
            <a:off x="365760" y="896112"/>
            <a:ext cx="1316736" cy="438912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1682496" y="896112"/>
            <a:ext cx="1389888" cy="469104"/>
          </a:xfrm>
          <a:prstGeom prst="chevron">
            <a:avLst/>
          </a:prstGeom>
          <a:solidFill>
            <a:srgbClr val="16283F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/>
          <a:lstStyle/>
          <a:p>
            <a:endParaRPr lang="en-IN" sz="1400"/>
          </a:p>
        </p:txBody>
      </p:sp>
      <p:sp>
        <p:nvSpPr>
          <p:cNvPr id="10" name="Text 6"/>
          <p:cNvSpPr txBox="1"/>
          <p:nvPr/>
        </p:nvSpPr>
        <p:spPr>
          <a:xfrm>
            <a:off x="1949004" y="896112"/>
            <a:ext cx="1083870" cy="438912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145536" y="896112"/>
            <a:ext cx="1316736" cy="438912"/>
          </a:xfrm>
          <a:prstGeom prst="chevron">
            <a:avLst/>
          </a:prstGeom>
          <a:solidFill>
            <a:srgbClr val="0E1A2B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/>
          <a:lstStyle/>
          <a:p>
            <a:endParaRPr lang="en-IN" sz="1400"/>
          </a:p>
        </p:txBody>
      </p:sp>
      <p:sp>
        <p:nvSpPr>
          <p:cNvPr id="12" name="Text 8"/>
          <p:cNvSpPr txBox="1"/>
          <p:nvPr/>
        </p:nvSpPr>
        <p:spPr>
          <a:xfrm>
            <a:off x="3145536" y="896112"/>
            <a:ext cx="1316736" cy="438912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535424" y="896112"/>
            <a:ext cx="1316736" cy="438912"/>
          </a:xfrm>
          <a:prstGeom prst="chevron">
            <a:avLst/>
          </a:prstGeom>
          <a:solidFill>
            <a:srgbClr val="16283F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/>
          <a:lstStyle/>
          <a:p>
            <a:endParaRPr lang="en-IN" sz="1400"/>
          </a:p>
        </p:txBody>
      </p:sp>
      <p:sp>
        <p:nvSpPr>
          <p:cNvPr id="14" name="Text 10"/>
          <p:cNvSpPr txBox="1"/>
          <p:nvPr/>
        </p:nvSpPr>
        <p:spPr>
          <a:xfrm>
            <a:off x="4535424" y="896112"/>
            <a:ext cx="1316736" cy="438912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925312" y="896112"/>
            <a:ext cx="1316736" cy="438912"/>
          </a:xfrm>
          <a:prstGeom prst="chevron">
            <a:avLst/>
          </a:prstGeom>
          <a:solidFill>
            <a:srgbClr val="0E1A2B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/>
          <a:lstStyle/>
          <a:p>
            <a:endParaRPr lang="en-IN" sz="1400"/>
          </a:p>
        </p:txBody>
      </p:sp>
      <p:sp>
        <p:nvSpPr>
          <p:cNvPr id="16" name="Text 12"/>
          <p:cNvSpPr txBox="1"/>
          <p:nvPr/>
        </p:nvSpPr>
        <p:spPr>
          <a:xfrm>
            <a:off x="5925312" y="896112"/>
            <a:ext cx="1316736" cy="438912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7315200" y="896112"/>
            <a:ext cx="1316736" cy="438912"/>
          </a:xfrm>
          <a:prstGeom prst="chevron">
            <a:avLst/>
          </a:prstGeom>
          <a:solidFill>
            <a:srgbClr val="16283F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/>
          <a:lstStyle/>
          <a:p>
            <a:endParaRPr lang="en-IN" sz="1400"/>
          </a:p>
        </p:txBody>
      </p:sp>
      <p:sp>
        <p:nvSpPr>
          <p:cNvPr id="18" name="Text 14"/>
          <p:cNvSpPr txBox="1"/>
          <p:nvPr/>
        </p:nvSpPr>
        <p:spPr>
          <a:xfrm>
            <a:off x="7315200" y="896112"/>
            <a:ext cx="1316736" cy="438912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ASSURE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8705088" y="896112"/>
            <a:ext cx="1316736" cy="438912"/>
          </a:xfrm>
          <a:prstGeom prst="chevron">
            <a:avLst/>
          </a:prstGeom>
          <a:solidFill>
            <a:srgbClr val="0E1A2B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/>
          <a:lstStyle/>
          <a:p>
            <a:endParaRPr lang="en-IN" sz="1400"/>
          </a:p>
        </p:txBody>
      </p:sp>
      <p:sp>
        <p:nvSpPr>
          <p:cNvPr id="20" name="Text 16"/>
          <p:cNvSpPr txBox="1"/>
          <p:nvPr/>
        </p:nvSpPr>
        <p:spPr>
          <a:xfrm>
            <a:off x="8705088" y="896112"/>
            <a:ext cx="1316736" cy="438912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10094976" y="896112"/>
            <a:ext cx="1316736" cy="438912"/>
          </a:xfrm>
          <a:prstGeom prst="chevron">
            <a:avLst/>
          </a:prstGeom>
          <a:solidFill>
            <a:srgbClr val="16283F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/>
          <a:lstStyle/>
          <a:p>
            <a:endParaRPr lang="en-IN" sz="1400"/>
          </a:p>
        </p:txBody>
      </p:sp>
      <p:sp>
        <p:nvSpPr>
          <p:cNvPr id="22" name="Text 18"/>
          <p:cNvSpPr txBox="1"/>
          <p:nvPr/>
        </p:nvSpPr>
        <p:spPr>
          <a:xfrm>
            <a:off x="10094976" y="896112"/>
            <a:ext cx="1316736" cy="438912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350375" y="1563624"/>
            <a:ext cx="82296" cy="292608"/>
          </a:xfrm>
          <a:prstGeom prst="rect">
            <a:avLst/>
          </a:prstGeom>
          <a:solidFill>
            <a:srgbClr val="4A6FA5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24" name="Text 20"/>
          <p:cNvSpPr txBox="1"/>
          <p:nvPr/>
        </p:nvSpPr>
        <p:spPr>
          <a:xfrm>
            <a:off x="501251" y="1511520"/>
            <a:ext cx="5596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ASSURANCE ARCHITECTURE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350375" y="2144742"/>
            <a:ext cx="5623560" cy="603504"/>
          </a:xfrm>
          <a:prstGeom prst="roundRect">
            <a:avLst>
              <a:gd name="adj" fmla="val 9091"/>
            </a:avLst>
          </a:prstGeom>
          <a:solidFill>
            <a:srgbClr val="EEF3F7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26" name="Shape 22"/>
          <p:cNvSpPr/>
          <p:nvPr/>
        </p:nvSpPr>
        <p:spPr>
          <a:xfrm>
            <a:off x="469247" y="2291046"/>
            <a:ext cx="310896" cy="310896"/>
          </a:xfrm>
          <a:prstGeom prst="ellipse">
            <a:avLst/>
          </a:prstGeom>
          <a:solidFill>
            <a:srgbClr val="4A6FA5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27" name="Shape 23"/>
          <p:cNvSpPr/>
          <p:nvPr/>
        </p:nvSpPr>
        <p:spPr>
          <a:xfrm>
            <a:off x="559407" y="2359443"/>
            <a:ext cx="130576" cy="1678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28" name="Shape 24"/>
          <p:cNvSpPr/>
          <p:nvPr/>
        </p:nvSpPr>
        <p:spPr>
          <a:xfrm>
            <a:off x="582911" y="2406451"/>
            <a:ext cx="83569" cy="10073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29" name="Shape 25"/>
          <p:cNvSpPr/>
          <p:nvPr/>
        </p:nvSpPr>
        <p:spPr>
          <a:xfrm>
            <a:off x="582911" y="2440027"/>
            <a:ext cx="83569" cy="10073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30" name="Shape 26"/>
          <p:cNvSpPr/>
          <p:nvPr/>
        </p:nvSpPr>
        <p:spPr>
          <a:xfrm>
            <a:off x="582911" y="2473604"/>
            <a:ext cx="83569" cy="10073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31" name="Text 27"/>
          <p:cNvSpPr txBox="1"/>
          <p:nvPr/>
        </p:nvSpPr>
        <p:spPr>
          <a:xfrm>
            <a:off x="917303" y="2144742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 &amp; Dataset Sentinel
</a:t>
            </a:r>
            <a:r>
              <a:rPr lang="en-US" sz="14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/ near-duplicate / label-anomaly / OOD detectors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24695" y="2748246"/>
            <a:ext cx="0" cy="82296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  <a:tailEnd type="triangle"/>
          </a:ln>
        </p:spPr>
        <p:txBody>
          <a:bodyPr/>
          <a:lstStyle/>
          <a:p>
            <a:endParaRPr lang="en-IN" sz="1400"/>
          </a:p>
        </p:txBody>
      </p:sp>
      <p:sp>
        <p:nvSpPr>
          <p:cNvPr id="33" name="Shape 29"/>
          <p:cNvSpPr/>
          <p:nvPr/>
        </p:nvSpPr>
        <p:spPr>
          <a:xfrm>
            <a:off x="350375" y="2830542"/>
            <a:ext cx="5623560" cy="6858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34" name="Shape 30"/>
          <p:cNvSpPr/>
          <p:nvPr/>
        </p:nvSpPr>
        <p:spPr>
          <a:xfrm>
            <a:off x="469247" y="2976846"/>
            <a:ext cx="310896" cy="310896"/>
          </a:xfrm>
          <a:prstGeom prst="ellipse">
            <a:avLst/>
          </a:prstGeom>
          <a:solidFill>
            <a:srgbClr val="4A6FA5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35" name="Shape 31"/>
          <p:cNvSpPr/>
          <p:nvPr/>
        </p:nvSpPr>
        <p:spPr>
          <a:xfrm>
            <a:off x="537644" y="3045243"/>
            <a:ext cx="174102" cy="174102"/>
          </a:xfrm>
          <a:prstGeom prst="cub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36" name="Text 32"/>
          <p:cNvSpPr txBox="1"/>
          <p:nvPr/>
        </p:nvSpPr>
        <p:spPr>
          <a:xfrm>
            <a:off x="917303" y="2830542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Sentinel
</a:t>
            </a:r>
            <a:r>
              <a:rPr lang="en-US" sz="14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fingerprint, behavioural probe battery, reference-model diff</a:t>
            </a:r>
            <a:endParaRPr lang="en-US" sz="1400" dirty="0"/>
          </a:p>
        </p:txBody>
      </p:sp>
      <p:sp>
        <p:nvSpPr>
          <p:cNvPr id="37" name="Shape 33"/>
          <p:cNvSpPr/>
          <p:nvPr/>
        </p:nvSpPr>
        <p:spPr>
          <a:xfrm>
            <a:off x="624695" y="3434046"/>
            <a:ext cx="0" cy="82296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  <a:tailEnd type="triangle"/>
          </a:ln>
        </p:spPr>
        <p:txBody>
          <a:bodyPr/>
          <a:lstStyle/>
          <a:p>
            <a:endParaRPr lang="en-IN" sz="1400"/>
          </a:p>
        </p:txBody>
      </p:sp>
      <p:sp>
        <p:nvSpPr>
          <p:cNvPr id="38" name="Shape 34"/>
          <p:cNvSpPr/>
          <p:nvPr/>
        </p:nvSpPr>
        <p:spPr>
          <a:xfrm>
            <a:off x="350375" y="3516342"/>
            <a:ext cx="5623560" cy="603504"/>
          </a:xfrm>
          <a:prstGeom prst="roundRect">
            <a:avLst>
              <a:gd name="adj" fmla="val 9091"/>
            </a:avLst>
          </a:prstGeom>
          <a:solidFill>
            <a:srgbClr val="EEF3F7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39" name="Shape 35"/>
          <p:cNvSpPr/>
          <p:nvPr/>
        </p:nvSpPr>
        <p:spPr>
          <a:xfrm>
            <a:off x="469247" y="3662646"/>
            <a:ext cx="310896" cy="310896"/>
          </a:xfrm>
          <a:prstGeom prst="ellipse">
            <a:avLst/>
          </a:prstGeom>
          <a:solidFill>
            <a:srgbClr val="4A6FA5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40" name="Shape 36"/>
          <p:cNvSpPr/>
          <p:nvPr/>
        </p:nvSpPr>
        <p:spPr>
          <a:xfrm>
            <a:off x="572464" y="3735520"/>
            <a:ext cx="104461" cy="104461"/>
          </a:xfrm>
          <a:prstGeom prst="blockArc">
            <a:avLst>
              <a:gd name="adj1" fmla="val 10800000"/>
              <a:gd name="adj2" fmla="val 21600000"/>
              <a:gd name="adj3" fmla="val 1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41" name="Shape 37"/>
          <p:cNvSpPr/>
          <p:nvPr/>
        </p:nvSpPr>
        <p:spPr>
          <a:xfrm>
            <a:off x="562516" y="3824312"/>
            <a:ext cx="124358" cy="93269"/>
          </a:xfrm>
          <a:prstGeom prst="roundRect">
            <a:avLst>
              <a:gd name="adj" fmla="val 1960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42" name="Text 38"/>
          <p:cNvSpPr txBox="1"/>
          <p:nvPr/>
        </p:nvSpPr>
        <p:spPr>
          <a:xfrm>
            <a:off x="917303" y="3516342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Attestor
</a:t>
            </a:r>
            <a:r>
              <a:rPr lang="en-US" sz="14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+ Ed25519 signed, hash-chained cryptographic binding</a:t>
            </a:r>
            <a:endParaRPr lang="en-US" sz="1400" dirty="0"/>
          </a:p>
        </p:txBody>
      </p:sp>
      <p:sp>
        <p:nvSpPr>
          <p:cNvPr id="43" name="Shape 39"/>
          <p:cNvSpPr/>
          <p:nvPr/>
        </p:nvSpPr>
        <p:spPr>
          <a:xfrm>
            <a:off x="624695" y="4119846"/>
            <a:ext cx="0" cy="82296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  <a:tailEnd type="triangle"/>
          </a:ln>
        </p:spPr>
        <p:txBody>
          <a:bodyPr/>
          <a:lstStyle/>
          <a:p>
            <a:endParaRPr lang="en-IN" sz="1400"/>
          </a:p>
        </p:txBody>
      </p:sp>
      <p:sp>
        <p:nvSpPr>
          <p:cNvPr id="44" name="Shape 40"/>
          <p:cNvSpPr/>
          <p:nvPr/>
        </p:nvSpPr>
        <p:spPr>
          <a:xfrm>
            <a:off x="350375" y="4202142"/>
            <a:ext cx="562356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45" name="Shape 41"/>
          <p:cNvSpPr/>
          <p:nvPr/>
        </p:nvSpPr>
        <p:spPr>
          <a:xfrm>
            <a:off x="469247" y="4348446"/>
            <a:ext cx="310896" cy="310896"/>
          </a:xfrm>
          <a:prstGeom prst="ellipse">
            <a:avLst/>
          </a:prstGeom>
          <a:solidFill>
            <a:srgbClr val="4A6FA5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46" name="Shape 42"/>
          <p:cNvSpPr/>
          <p:nvPr/>
        </p:nvSpPr>
        <p:spPr>
          <a:xfrm>
            <a:off x="528317" y="4418398"/>
            <a:ext cx="192756" cy="170993"/>
          </a:xfrm>
          <a:custGeom>
            <a:avLst/>
            <a:gdLst/>
            <a:ahLst/>
            <a:cxnLst/>
            <a:rect l="l" t="t" r="r" b="b"/>
            <a:pathLst>
              <a:path w="192756" h="170993">
                <a:moveTo>
                  <a:pt x="0" y="85496"/>
                </a:moveTo>
                <a:quadBezTo>
                  <a:pt x="96378" y="0"/>
                  <a:pt x="192756" y="85496"/>
                </a:quadBezTo>
                <a:quadBezTo>
                  <a:pt x="96378" y="170993"/>
                  <a:pt x="0" y="85496"/>
                </a:quad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47" name="Shape 43"/>
          <p:cNvSpPr/>
          <p:nvPr/>
        </p:nvSpPr>
        <p:spPr>
          <a:xfrm>
            <a:off x="596714" y="4475913"/>
            <a:ext cx="55961" cy="55961"/>
          </a:xfrm>
          <a:prstGeom prst="ellipse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48" name="Text 44"/>
          <p:cNvSpPr txBox="1"/>
          <p:nvPr/>
        </p:nvSpPr>
        <p:spPr>
          <a:xfrm>
            <a:off x="917303" y="4202142"/>
            <a:ext cx="4572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Correlation Engine
</a:t>
            </a:r>
            <a:r>
              <a:rPr lang="en-US" sz="14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Cross-Lifecycle Evidence Graph across the full pipeline</a:t>
            </a:r>
            <a:endParaRPr lang="en-US" sz="1400" dirty="0"/>
          </a:p>
        </p:txBody>
      </p:sp>
      <p:sp>
        <p:nvSpPr>
          <p:cNvPr id="49" name="Shape 45"/>
          <p:cNvSpPr/>
          <p:nvPr/>
        </p:nvSpPr>
        <p:spPr>
          <a:xfrm>
            <a:off x="624695" y="4805646"/>
            <a:ext cx="0" cy="82296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  <a:tailEnd type="triangle"/>
          </a:ln>
        </p:spPr>
        <p:txBody>
          <a:bodyPr/>
          <a:lstStyle/>
          <a:p>
            <a:endParaRPr lang="en-IN" sz="1400"/>
          </a:p>
        </p:txBody>
      </p:sp>
      <p:sp>
        <p:nvSpPr>
          <p:cNvPr id="50" name="Shape 46"/>
          <p:cNvSpPr/>
          <p:nvPr/>
        </p:nvSpPr>
        <p:spPr>
          <a:xfrm>
            <a:off x="350375" y="4887942"/>
            <a:ext cx="5623560" cy="809244"/>
          </a:xfrm>
          <a:prstGeom prst="roundRect">
            <a:avLst>
              <a:gd name="adj" fmla="val 9091"/>
            </a:avLst>
          </a:prstGeom>
          <a:solidFill>
            <a:srgbClr val="EEF3F7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51" name="Shape 47"/>
          <p:cNvSpPr/>
          <p:nvPr/>
        </p:nvSpPr>
        <p:spPr>
          <a:xfrm>
            <a:off x="469247" y="5034246"/>
            <a:ext cx="310896" cy="310896"/>
          </a:xfrm>
          <a:prstGeom prst="ellipse">
            <a:avLst/>
          </a:prstGeom>
          <a:solidFill>
            <a:srgbClr val="4A6FA5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52" name="Shape 48"/>
          <p:cNvSpPr/>
          <p:nvPr/>
        </p:nvSpPr>
        <p:spPr>
          <a:xfrm>
            <a:off x="546971" y="5096425"/>
            <a:ext cx="155448" cy="180320"/>
          </a:xfrm>
          <a:custGeom>
            <a:avLst/>
            <a:gdLst/>
            <a:ahLst/>
            <a:cxnLst/>
            <a:rect l="l" t="t" r="r" b="b"/>
            <a:pathLst>
              <a:path w="155448" h="180320">
                <a:moveTo>
                  <a:pt x="0" y="0"/>
                </a:moveTo>
                <a:lnTo>
                  <a:pt x="155448" y="0"/>
                </a:lnTo>
                <a:lnTo>
                  <a:pt x="155448" y="99176"/>
                </a:lnTo>
                <a:lnTo>
                  <a:pt x="77724" y="180320"/>
                </a:lnTo>
                <a:lnTo>
                  <a:pt x="0" y="99176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53" name="Text 49"/>
          <p:cNvSpPr txBox="1"/>
          <p:nvPr/>
        </p:nvSpPr>
        <p:spPr>
          <a:xfrm>
            <a:off x="917303" y="4846794"/>
            <a:ext cx="45720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 &amp; Audit Engine
</a:t>
            </a:r>
            <a:r>
              <a:rPr lang="en-US" sz="1400" dirty="0">
                <a:solidFill>
                  <a:srgbClr val="3A4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policy-driven Accept / Review / Quarantine + tamper-evident ledger</a:t>
            </a:r>
            <a:endParaRPr lang="en-US" sz="1400" dirty="0"/>
          </a:p>
        </p:txBody>
      </p:sp>
      <p:sp>
        <p:nvSpPr>
          <p:cNvPr id="54" name="Shape 50"/>
          <p:cNvSpPr/>
          <p:nvPr/>
        </p:nvSpPr>
        <p:spPr>
          <a:xfrm>
            <a:off x="6400800" y="1536192"/>
            <a:ext cx="82296" cy="292608"/>
          </a:xfrm>
          <a:prstGeom prst="rect">
            <a:avLst/>
          </a:prstGeom>
          <a:solidFill>
            <a:srgbClr val="2DD4C8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55" name="Text 51"/>
          <p:cNvSpPr txBox="1"/>
          <p:nvPr/>
        </p:nvSpPr>
        <p:spPr>
          <a:xfrm>
            <a:off x="6565392" y="1508760"/>
            <a:ext cx="5257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56" name="Shape 52"/>
          <p:cNvSpPr/>
          <p:nvPr/>
        </p:nvSpPr>
        <p:spPr>
          <a:xfrm>
            <a:off x="8138160" y="2560320"/>
            <a:ext cx="1920240" cy="1920240"/>
          </a:xfrm>
          <a:prstGeom prst="blockArc">
            <a:avLst>
              <a:gd name="adj1" fmla="val 0"/>
              <a:gd name="adj2" fmla="val 3600000"/>
              <a:gd name="adj3" fmla="val 20000"/>
            </a:avLst>
          </a:prstGeom>
          <a:solidFill>
            <a:srgbClr val="0E1A2B"/>
          </a:solidFill>
          <a:ln w="19050">
            <a:solidFill>
              <a:srgbClr val="FFFFFF"/>
            </a:solidFill>
            <a:prstDash val="solid"/>
          </a:ln>
          <a:effectLst>
            <a:innerShdw blurRad="114300">
              <a:prstClr val="black"/>
            </a:innerShdw>
          </a:effectLst>
        </p:spPr>
        <p:txBody>
          <a:bodyPr/>
          <a:lstStyle/>
          <a:p>
            <a:endParaRPr lang="en-IN" sz="1400"/>
          </a:p>
        </p:txBody>
      </p:sp>
      <p:sp>
        <p:nvSpPr>
          <p:cNvPr id="57" name="Shape 53"/>
          <p:cNvSpPr/>
          <p:nvPr/>
        </p:nvSpPr>
        <p:spPr>
          <a:xfrm>
            <a:off x="8138160" y="2560320"/>
            <a:ext cx="1920240" cy="1920240"/>
          </a:xfrm>
          <a:prstGeom prst="blockArc">
            <a:avLst>
              <a:gd name="adj1" fmla="val 3600000"/>
              <a:gd name="adj2" fmla="val 7200000"/>
              <a:gd name="adj3" fmla="val 20000"/>
            </a:avLst>
          </a:prstGeom>
          <a:solidFill>
            <a:srgbClr val="E8A33D"/>
          </a:solidFill>
          <a:ln w="19050">
            <a:solidFill>
              <a:srgbClr val="FFFFFF"/>
            </a:solidFill>
            <a:prstDash val="solid"/>
          </a:ln>
          <a:effectLst>
            <a:innerShdw blurRad="114300">
              <a:prstClr val="black"/>
            </a:innerShdw>
          </a:effectLst>
        </p:spPr>
        <p:txBody>
          <a:bodyPr/>
          <a:lstStyle/>
          <a:p>
            <a:endParaRPr lang="en-IN" sz="1400"/>
          </a:p>
        </p:txBody>
      </p:sp>
      <p:sp>
        <p:nvSpPr>
          <p:cNvPr id="58" name="Shape 54"/>
          <p:cNvSpPr/>
          <p:nvPr/>
        </p:nvSpPr>
        <p:spPr>
          <a:xfrm>
            <a:off x="8138160" y="2560320"/>
            <a:ext cx="1920240" cy="1920240"/>
          </a:xfrm>
          <a:prstGeom prst="blockArc">
            <a:avLst>
              <a:gd name="adj1" fmla="val 7200000"/>
              <a:gd name="adj2" fmla="val 10800000"/>
              <a:gd name="adj3" fmla="val 20000"/>
            </a:avLst>
          </a:prstGeom>
          <a:solidFill>
            <a:srgbClr val="2DD4C8"/>
          </a:solidFill>
          <a:ln w="19050">
            <a:solidFill>
              <a:srgbClr val="FFFFFF"/>
            </a:solidFill>
            <a:prstDash val="solid"/>
          </a:ln>
          <a:effectLst>
            <a:innerShdw blurRad="114300">
              <a:prstClr val="black"/>
            </a:innerShdw>
          </a:effectLst>
        </p:spPr>
        <p:txBody>
          <a:bodyPr/>
          <a:lstStyle/>
          <a:p>
            <a:endParaRPr lang="en-IN" sz="1400"/>
          </a:p>
        </p:txBody>
      </p:sp>
      <p:sp>
        <p:nvSpPr>
          <p:cNvPr id="59" name="Shape 55"/>
          <p:cNvSpPr/>
          <p:nvPr/>
        </p:nvSpPr>
        <p:spPr>
          <a:xfrm>
            <a:off x="8138160" y="2560320"/>
            <a:ext cx="1920240" cy="1920240"/>
          </a:xfrm>
          <a:prstGeom prst="blockArc">
            <a:avLst>
              <a:gd name="adj1" fmla="val 10800000"/>
              <a:gd name="adj2" fmla="val 14400000"/>
              <a:gd name="adj3" fmla="val 20000"/>
            </a:avLst>
          </a:prstGeom>
          <a:solidFill>
            <a:srgbClr val="4A6FA5"/>
          </a:solidFill>
          <a:ln w="19050">
            <a:solidFill>
              <a:srgbClr val="FFFFFF"/>
            </a:solidFill>
            <a:prstDash val="solid"/>
          </a:ln>
          <a:effectLst>
            <a:innerShdw blurRad="114300">
              <a:prstClr val="black"/>
            </a:innerShdw>
          </a:effectLst>
        </p:spPr>
        <p:txBody>
          <a:bodyPr/>
          <a:lstStyle/>
          <a:p>
            <a:endParaRPr lang="en-IN" sz="1400"/>
          </a:p>
        </p:txBody>
      </p:sp>
      <p:sp>
        <p:nvSpPr>
          <p:cNvPr id="60" name="Shape 56"/>
          <p:cNvSpPr/>
          <p:nvPr/>
        </p:nvSpPr>
        <p:spPr>
          <a:xfrm>
            <a:off x="8138160" y="2560320"/>
            <a:ext cx="1920240" cy="1920240"/>
          </a:xfrm>
          <a:prstGeom prst="blockArc">
            <a:avLst>
              <a:gd name="adj1" fmla="val 14400000"/>
              <a:gd name="adj2" fmla="val 18000000"/>
              <a:gd name="adj3" fmla="val 20000"/>
            </a:avLst>
          </a:prstGeom>
          <a:solidFill>
            <a:srgbClr val="7A6FB0"/>
          </a:solidFill>
          <a:ln w="19050">
            <a:solidFill>
              <a:srgbClr val="FFFFFF"/>
            </a:solidFill>
            <a:prstDash val="solid"/>
          </a:ln>
          <a:effectLst>
            <a:innerShdw blurRad="114300">
              <a:prstClr val="black"/>
            </a:innerShdw>
          </a:effectLst>
        </p:spPr>
        <p:txBody>
          <a:bodyPr/>
          <a:lstStyle/>
          <a:p>
            <a:endParaRPr lang="en-IN" sz="1400"/>
          </a:p>
        </p:txBody>
      </p:sp>
      <p:sp>
        <p:nvSpPr>
          <p:cNvPr id="61" name="Shape 57"/>
          <p:cNvSpPr/>
          <p:nvPr/>
        </p:nvSpPr>
        <p:spPr>
          <a:xfrm>
            <a:off x="8138160" y="2560320"/>
            <a:ext cx="1920240" cy="1920240"/>
          </a:xfrm>
          <a:prstGeom prst="blockArc">
            <a:avLst>
              <a:gd name="adj1" fmla="val 18000000"/>
              <a:gd name="adj2" fmla="val 21600000"/>
              <a:gd name="adj3" fmla="val 20000"/>
            </a:avLst>
          </a:prstGeom>
          <a:solidFill>
            <a:srgbClr val="C4433D"/>
          </a:solidFill>
          <a:ln w="19050">
            <a:solidFill>
              <a:srgbClr val="FFFFFF"/>
            </a:solidFill>
            <a:prstDash val="solid"/>
          </a:ln>
          <a:effectLst>
            <a:innerShdw blurRad="114300">
              <a:prstClr val="black"/>
            </a:innerShdw>
          </a:effectLst>
        </p:spPr>
        <p:txBody>
          <a:bodyPr/>
          <a:lstStyle/>
          <a:p>
            <a:endParaRPr lang="en-IN" sz="1400"/>
          </a:p>
        </p:txBody>
      </p:sp>
      <p:sp>
        <p:nvSpPr>
          <p:cNvPr id="62" name="Shape 58"/>
          <p:cNvSpPr/>
          <p:nvPr/>
        </p:nvSpPr>
        <p:spPr>
          <a:xfrm>
            <a:off x="8568294" y="2990454"/>
            <a:ext cx="1059972" cy="10599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innerShdw blurRad="114300">
              <a:prstClr val="black"/>
            </a:innerShdw>
          </a:effectLst>
        </p:spPr>
        <p:txBody>
          <a:bodyPr/>
          <a:lstStyle/>
          <a:p>
            <a:endParaRPr lang="en-IN" sz="1400"/>
          </a:p>
        </p:txBody>
      </p:sp>
      <p:sp>
        <p:nvSpPr>
          <p:cNvPr id="63" name="Text 59"/>
          <p:cNvSpPr txBox="1"/>
          <p:nvPr/>
        </p:nvSpPr>
        <p:spPr>
          <a:xfrm>
            <a:off x="8568294" y="2990454"/>
            <a:ext cx="1059972" cy="1059972"/>
          </a:xfrm>
          <a:prstGeom prst="rect">
            <a:avLst/>
          </a:prstGeom>
          <a:noFill/>
          <a:ln/>
          <a:effectLst>
            <a:innerShdw blurRad="114300">
              <a:prstClr val="black"/>
            </a:inn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DRISHTRA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400" dirty="0"/>
          </a:p>
        </p:txBody>
      </p:sp>
      <p:sp>
        <p:nvSpPr>
          <p:cNvPr id="64" name="Text 60"/>
          <p:cNvSpPr txBox="1"/>
          <p:nvPr/>
        </p:nvSpPr>
        <p:spPr>
          <a:xfrm>
            <a:off x="9791272" y="4073652"/>
            <a:ext cx="1417320" cy="548640"/>
          </a:xfrm>
          <a:prstGeom prst="rect">
            <a:avLst/>
          </a:prstGeom>
          <a:noFill/>
          <a:ln/>
          <a:effectLst>
            <a:innerShdw blurRad="114300">
              <a:prstClr val="black"/>
            </a:innerShdw>
          </a:effectLst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
</a:t>
            </a:r>
            <a:r>
              <a:rPr lang="en-US" sz="1400" dirty="0">
                <a:solidFill>
                  <a:srgbClr val="4A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Pydantic</a:t>
            </a:r>
            <a:endParaRPr lang="en-US" sz="1400" dirty="0"/>
          </a:p>
        </p:txBody>
      </p:sp>
      <p:sp>
        <p:nvSpPr>
          <p:cNvPr id="65" name="Text 61"/>
          <p:cNvSpPr txBox="1"/>
          <p:nvPr/>
        </p:nvSpPr>
        <p:spPr>
          <a:xfrm>
            <a:off x="8469376" y="4652845"/>
            <a:ext cx="1417320" cy="548640"/>
          </a:xfrm>
          <a:prstGeom prst="rect">
            <a:avLst/>
          </a:prstGeom>
          <a:noFill/>
          <a:ln/>
          <a:effectLst>
            <a:innerShdw blurRad="114300">
              <a:prstClr val="black"/>
            </a:innerShdw>
          </a:effectLst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4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/ ML
</a:t>
            </a:r>
            <a:r>
              <a:rPr lang="en-US" sz="1400" dirty="0">
                <a:solidFill>
                  <a:schemeClr val="accent4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· ONNX · OpenCV</a:t>
            </a:r>
            <a:endParaRPr lang="en-US" sz="1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6" name="Text 62"/>
          <p:cNvSpPr txBox="1"/>
          <p:nvPr/>
        </p:nvSpPr>
        <p:spPr>
          <a:xfrm>
            <a:off x="6933772" y="3888885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
</a:t>
            </a:r>
            <a:r>
              <a:rPr lang="en-US" sz="1400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· Ed25519</a:t>
            </a:r>
            <a:endParaRPr lang="en-US" sz="1400" dirty="0">
              <a:solidFill>
                <a:srgbClr val="2DD4C8"/>
              </a:solidFill>
            </a:endParaRPr>
          </a:p>
        </p:txBody>
      </p:sp>
      <p:sp>
        <p:nvSpPr>
          <p:cNvPr id="67" name="Text 63"/>
          <p:cNvSpPr txBox="1"/>
          <p:nvPr/>
        </p:nvSpPr>
        <p:spPr>
          <a:xfrm>
            <a:off x="6987968" y="253288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
</a:t>
            </a:r>
            <a:r>
              <a:rPr lang="en-US" sz="1400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TypeScript</a:t>
            </a:r>
            <a:endParaRPr lang="en-US" sz="14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8" name="Text 64"/>
          <p:cNvSpPr txBox="1"/>
          <p:nvPr/>
        </p:nvSpPr>
        <p:spPr>
          <a:xfrm>
            <a:off x="8335634" y="199833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
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· local FS</a:t>
            </a:r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9" name="Text 65"/>
          <p:cNvSpPr txBox="1"/>
          <p:nvPr/>
        </p:nvSpPr>
        <p:spPr>
          <a:xfrm>
            <a:off x="9972475" y="2557199"/>
            <a:ext cx="1417320" cy="548640"/>
          </a:xfrm>
          <a:prstGeom prst="rect">
            <a:avLst/>
          </a:prstGeom>
          <a:noFill/>
          <a:ln/>
          <a:effectLst>
            <a:innerShdw blurRad="114300">
              <a:prstClr val="black"/>
            </a:innerShdw>
          </a:effectLst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
</a:t>
            </a: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air-gapped</a:t>
            </a:r>
            <a:endParaRPr 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0" name="Text 66"/>
          <p:cNvSpPr txBox="1"/>
          <p:nvPr/>
        </p:nvSpPr>
        <p:spPr>
          <a:xfrm>
            <a:off x="6400800" y="5532120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prototype: 18-stage pipeline · 5 role consoles · 83 tests</a:t>
            </a:r>
            <a:endParaRPr lang="en-US" sz="1400" dirty="0"/>
          </a:p>
        </p:txBody>
      </p:sp>
      <p:sp>
        <p:nvSpPr>
          <p:cNvPr id="71" name="Shape 67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72" name="Text 68"/>
          <p:cNvSpPr txBox="1"/>
          <p:nvPr/>
        </p:nvSpPr>
        <p:spPr>
          <a:xfrm>
            <a:off x="256032" y="6547104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— DRISHTRA · Trusted Vision Assurance Fabric · PS 26228</a:t>
            </a:r>
            <a:endParaRPr lang="en-US" sz="1400" dirty="0"/>
          </a:p>
        </p:txBody>
      </p:sp>
      <p:sp>
        <p:nvSpPr>
          <p:cNvPr id="73" name="Text 69"/>
          <p:cNvSpPr txBox="1"/>
          <p:nvPr/>
        </p:nvSpPr>
        <p:spPr>
          <a:xfrm>
            <a:off x="11503152" y="654710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C0F21F34-736F-DBF1-F227-B2153D57C5E6}"/>
                  </a:ext>
                </a:extLst>
              </p14:cNvPr>
              <p14:cNvContentPartPr/>
              <p14:nvPr/>
            </p14:nvContentPartPr>
            <p14:xfrm>
              <a:off x="1697634" y="1131503"/>
              <a:ext cx="290880" cy="72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C0F21F34-736F-DBF1-F227-B2153D57C5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79634" y="1095503"/>
                <a:ext cx="32652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A9EF53B9-FC42-BCDE-F498-340E460EDFC5}"/>
                  </a:ext>
                </a:extLst>
              </p14:cNvPr>
              <p14:cNvContentPartPr/>
              <p14:nvPr/>
            </p14:nvContentPartPr>
            <p14:xfrm>
              <a:off x="2960514" y="1102343"/>
              <a:ext cx="435960" cy="36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A9EF53B9-FC42-BCDE-F498-340E460EDFC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42514" y="1084343"/>
                <a:ext cx="4716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09A5F352-6BD8-F9D1-4B7E-2A017E2BD844}"/>
                  </a:ext>
                </a:extLst>
              </p14:cNvPr>
              <p14:cNvContentPartPr/>
              <p14:nvPr/>
            </p14:nvContentPartPr>
            <p14:xfrm>
              <a:off x="4441194" y="1114583"/>
              <a:ext cx="317880" cy="3204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09A5F352-6BD8-F9D1-4B7E-2A017E2BD84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423194" y="1096583"/>
                <a:ext cx="353520" cy="6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95BDFCDC-72F0-C98B-27AC-0FFD7DBA63DD}"/>
                  </a:ext>
                </a:extLst>
              </p14:cNvPr>
              <p14:cNvContentPartPr/>
              <p14:nvPr/>
            </p14:nvContentPartPr>
            <p14:xfrm>
              <a:off x="5834394" y="1117103"/>
              <a:ext cx="332280" cy="36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95BDFCDC-72F0-C98B-27AC-0FFD7DBA63D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816394" y="1099103"/>
                <a:ext cx="3679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6FF46E92-5EB2-1247-5124-F9124D2AC41D}"/>
                  </a:ext>
                </a:extLst>
              </p14:cNvPr>
              <p14:cNvContentPartPr/>
              <p14:nvPr/>
            </p14:nvContentPartPr>
            <p14:xfrm>
              <a:off x="7213194" y="1117103"/>
              <a:ext cx="363600" cy="1476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6FF46E92-5EB2-1247-5124-F9124D2AC41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195194" y="1099103"/>
                <a:ext cx="39924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7363C155-F046-11F5-515B-11C8CB2D662C}"/>
                  </a:ext>
                </a:extLst>
              </p14:cNvPr>
              <p14:cNvContentPartPr/>
              <p14:nvPr/>
            </p14:nvContentPartPr>
            <p14:xfrm>
              <a:off x="8621154" y="1117103"/>
              <a:ext cx="332280" cy="36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7363C155-F046-11F5-515B-11C8CB2D662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603154" y="1099103"/>
                <a:ext cx="3679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57B8A64E-482E-0982-3193-A8327BBEFA99}"/>
                  </a:ext>
                </a:extLst>
              </p14:cNvPr>
              <p14:cNvContentPartPr/>
              <p14:nvPr/>
            </p14:nvContentPartPr>
            <p14:xfrm>
              <a:off x="9985554" y="1117103"/>
              <a:ext cx="390600" cy="36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57B8A64E-482E-0982-3193-A8327BBEFA9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967554" y="1099103"/>
                <a:ext cx="42624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75" name="Oval 74" descr="Your startup LOGO">
            <a:extLst>
              <a:ext uri="{FF2B5EF4-FFF2-40B4-BE49-F238E27FC236}">
                <a16:creationId xmlns:a16="http://schemas.microsoft.com/office/drawing/2014/main" id="{47727491-85D8-7A06-6CCC-F05BAB89638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56032" y="201730"/>
            <a:ext cx="2249850" cy="26780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HackHawks405</a:t>
            </a:r>
            <a:endParaRPr lang="en-IN" dirty="0"/>
          </a:p>
        </p:txBody>
      </p:sp>
      <p:pic>
        <p:nvPicPr>
          <p:cNvPr id="74" name="Picture 73">
            <a:hlinkClick r:id="rId17"/>
            <a:extLst>
              <a:ext uri="{FF2B5EF4-FFF2-40B4-BE49-F238E27FC236}">
                <a16:creationId xmlns:a16="http://schemas.microsoft.com/office/drawing/2014/main" id="{1765A519-EC70-56C5-81C3-A1C225539C1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411712" y="1449324"/>
            <a:ext cx="631880" cy="631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3886200" y="10515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VIABILITY</a:t>
            </a:r>
            <a:endParaRPr lang="en-US" sz="2400" dirty="0"/>
          </a:p>
        </p:txBody>
      </p:sp>
      <p:pic>
        <p:nvPicPr>
          <p:cNvPr id="4" name="Image 1" descr="sih_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91440"/>
            <a:ext cx="493776" cy="53035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241280" y="10972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
HACKATHON 2026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256032" y="749808"/>
            <a:ext cx="11676888" cy="32004"/>
          </a:xfrm>
          <a:prstGeom prst="rect">
            <a:avLst/>
          </a:prstGeom>
          <a:solidFill>
            <a:srgbClr val="2DD4C8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7" name="Shape 3"/>
          <p:cNvSpPr/>
          <p:nvPr/>
        </p:nvSpPr>
        <p:spPr>
          <a:xfrm>
            <a:off x="363474" y="1049274"/>
            <a:ext cx="1920240" cy="1920240"/>
          </a:xfrm>
          <a:prstGeom prst="ellipse">
            <a:avLst/>
          </a:prstGeom>
          <a:solidFill>
            <a:srgbClr val="2DD4C8">
              <a:alpha val="45000"/>
            </a:srgbClr>
          </a:solidFill>
          <a:ln w="19050">
            <a:solidFill>
              <a:srgbClr val="2DD4C8"/>
            </a:solidFill>
            <a:prstDash val="solid"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/>
          <a:lstStyle/>
          <a:p>
            <a:endParaRPr lang="en-IN" sz="1400"/>
          </a:p>
        </p:txBody>
      </p:sp>
      <p:sp>
        <p:nvSpPr>
          <p:cNvPr id="8" name="Shape 4"/>
          <p:cNvSpPr/>
          <p:nvPr/>
        </p:nvSpPr>
        <p:spPr>
          <a:xfrm>
            <a:off x="1419606" y="1049274"/>
            <a:ext cx="1920240" cy="1920240"/>
          </a:xfrm>
          <a:prstGeom prst="ellipse">
            <a:avLst/>
          </a:prstGeom>
          <a:solidFill>
            <a:srgbClr val="0E1A2B">
              <a:alpha val="45000"/>
            </a:srgbClr>
          </a:solidFill>
          <a:ln w="19050">
            <a:solidFill>
              <a:srgbClr val="0E1A2B"/>
            </a:solidFill>
            <a:prstDash val="solid"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/>
          <a:lstStyle/>
          <a:p>
            <a:endParaRPr lang="en-IN" sz="1400"/>
          </a:p>
        </p:txBody>
      </p:sp>
      <p:sp>
        <p:nvSpPr>
          <p:cNvPr id="9" name="Shape 5"/>
          <p:cNvSpPr/>
          <p:nvPr/>
        </p:nvSpPr>
        <p:spPr>
          <a:xfrm>
            <a:off x="891540" y="1980590"/>
            <a:ext cx="1920240" cy="1920240"/>
          </a:xfrm>
          <a:prstGeom prst="ellipse">
            <a:avLst/>
          </a:prstGeom>
          <a:solidFill>
            <a:srgbClr val="4A6FA5">
              <a:alpha val="45000"/>
            </a:srgbClr>
          </a:solidFill>
          <a:ln w="19050">
            <a:solidFill>
              <a:srgbClr val="4A6FA5"/>
            </a:solidFill>
            <a:prstDash val="solid"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/>
          <a:lstStyle/>
          <a:p>
            <a:endParaRPr lang="en-IN" sz="1400"/>
          </a:p>
        </p:txBody>
      </p:sp>
      <p:sp>
        <p:nvSpPr>
          <p:cNvPr id="10" name="Text 6"/>
          <p:cNvSpPr txBox="1"/>
          <p:nvPr/>
        </p:nvSpPr>
        <p:spPr>
          <a:xfrm>
            <a:off x="432816" y="1664208"/>
            <a:ext cx="1104138" cy="274320"/>
          </a:xfrm>
          <a:prstGeom prst="rect">
            <a:avLst/>
          </a:prstGeom>
          <a:noFill/>
          <a:ln/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AVAILABLE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2259711" y="1722729"/>
            <a:ext cx="1104138" cy="274320"/>
          </a:xfrm>
          <a:prstGeom prst="rect">
            <a:avLst/>
          </a:prstGeom>
          <a:noFill/>
          <a:ln/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FOUNDATION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323594" y="3241301"/>
            <a:ext cx="1104138" cy="274320"/>
          </a:xfrm>
          <a:prstGeom prst="rect">
            <a:avLst/>
          </a:prstGeom>
          <a:noFill/>
          <a:ln/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GOVT. INTEGRATION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348740" y="2211476"/>
            <a:ext cx="1005840" cy="457200"/>
          </a:xfrm>
          <a:prstGeom prst="rect">
            <a:avLst/>
          </a:prstGeom>
          <a:noFill/>
          <a:ln/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DRISHTRA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160520" y="960120"/>
            <a:ext cx="82296" cy="292608"/>
          </a:xfrm>
          <a:prstGeom prst="rect">
            <a:avLst/>
          </a:prstGeom>
          <a:solidFill>
            <a:srgbClr val="E8A33D"/>
          </a:solidFill>
          <a:ln/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/>
          <a:lstStyle/>
          <a:p>
            <a:endParaRPr lang="en-IN" sz="1400"/>
          </a:p>
        </p:txBody>
      </p:sp>
      <p:sp>
        <p:nvSpPr>
          <p:cNvPr id="15" name="Text 11"/>
          <p:cNvSpPr txBox="1"/>
          <p:nvPr/>
        </p:nvSpPr>
        <p:spPr>
          <a:xfrm>
            <a:off x="4325112" y="932688"/>
            <a:ext cx="7333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THREE PILLARS HOLD UP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160520" y="1353312"/>
            <a:ext cx="2350008" cy="54864"/>
          </a:xfrm>
          <a:prstGeom prst="rect">
            <a:avLst/>
          </a:prstGeom>
          <a:solidFill>
            <a:srgbClr val="2DD4C8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17" name="Text 13"/>
          <p:cNvSpPr txBox="1"/>
          <p:nvPr/>
        </p:nvSpPr>
        <p:spPr>
          <a:xfrm>
            <a:off x="4160520" y="1426464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160520" y="1737360"/>
            <a:ext cx="2395728" cy="2377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27000" indent="-127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TrojAI · BackdoorBench (CIFAR-10/100, GTSRB)</a:t>
            </a:r>
            <a:endParaRPr lang="en-US" sz="1400" dirty="0"/>
          </a:p>
          <a:p>
            <a:pPr marL="127000" indent="-127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subset + UVH-26 (IISc) · DATS_2022 · ITD</a:t>
            </a:r>
            <a:endParaRPr lang="en-US" sz="1400" dirty="0"/>
          </a:p>
          <a:p>
            <a:pPr marL="127000" indent="-127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synthetic mutations for known ground truth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784848" y="1353312"/>
            <a:ext cx="2350008" cy="54864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20" name="Text 16"/>
          <p:cNvSpPr txBox="1"/>
          <p:nvPr/>
        </p:nvSpPr>
        <p:spPr>
          <a:xfrm>
            <a:off x="6784848" y="1426464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6784848" y="1737360"/>
            <a:ext cx="2395728" cy="2377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27000" indent="-127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Zero-trust: contributor→dataset→model→runtime→output</a:t>
            </a:r>
            <a:endParaRPr lang="en-US" sz="1400" dirty="0"/>
          </a:p>
          <a:p>
            <a:pPr marL="127000" indent="-127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Signed, hash-chained records; replay &amp; tamper detection</a:t>
            </a:r>
            <a:endParaRPr lang="en-US" sz="1400" dirty="0"/>
          </a:p>
          <a:p>
            <a:pPr marL="127000" indent="-127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tamper-evident audit; fully air-gapped execution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9409176" y="1353312"/>
            <a:ext cx="2350008" cy="54864"/>
          </a:xfrm>
          <a:prstGeom prst="rect">
            <a:avLst/>
          </a:prstGeom>
          <a:solidFill>
            <a:srgbClr val="4A6FA5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23" name="Text 19"/>
          <p:cNvSpPr txBox="1"/>
          <p:nvPr/>
        </p:nvSpPr>
        <p:spPr>
          <a:xfrm>
            <a:off x="9409176" y="1426464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9409176" y="1737360"/>
            <a:ext cx="2395728" cy="2377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27000" indent="-127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adapter layer beside existing systems — no direct access claimed</a:t>
            </a:r>
            <a:endParaRPr lang="en-US" sz="1400" dirty="0"/>
          </a:p>
          <a:p>
            <a:pPr marL="127000" indent="-127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/ API / model-registry / SIEM adapters, future-authorized</a:t>
            </a:r>
            <a:endParaRPr lang="en-US" sz="1400" dirty="0"/>
          </a:p>
          <a:p>
            <a:pPr marL="127000" indent="-127000"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classified, operational or service-generated data used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365760" y="4336542"/>
            <a:ext cx="82296" cy="292608"/>
          </a:xfrm>
          <a:prstGeom prst="rect">
            <a:avLst/>
          </a:prstGeom>
          <a:solidFill>
            <a:srgbClr val="C4433D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26" name="Text 22"/>
          <p:cNvSpPr txBox="1"/>
          <p:nvPr/>
        </p:nvSpPr>
        <p:spPr>
          <a:xfrm>
            <a:off x="530352" y="4303166"/>
            <a:ext cx="1369314" cy="335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365760" y="4604004"/>
            <a:ext cx="5367383" cy="1099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27000" indent="-127000">
              <a:spcAft>
                <a:spcPts val="700"/>
              </a:spcAft>
              <a:buSzPct val="100000"/>
              <a:buChar char="▪"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vendor models limit white-box activation/trigger analysis</a:t>
            </a:r>
            <a:endParaRPr lang="en-US" sz="1400" dirty="0"/>
          </a:p>
          <a:p>
            <a:pPr marL="127000" indent="-127000">
              <a:spcAft>
                <a:spcPts val="700"/>
              </a:spcAft>
              <a:buSzPct val="100000"/>
              <a:buChar char="▪"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datasets lack ground-truth compromise labels</a:t>
            </a:r>
            <a:endParaRPr lang="en-US" sz="1400" dirty="0"/>
          </a:p>
          <a:p>
            <a:pPr marL="127000" indent="-127000">
              <a:spcAft>
                <a:spcPts val="700"/>
              </a:spcAft>
              <a:buSzPct val="100000"/>
              <a:buChar char="▪"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Offline/air-gapped compute limits heavy behavioural probing at scale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6172200" y="4361652"/>
            <a:ext cx="82296" cy="292608"/>
          </a:xfrm>
          <a:prstGeom prst="rect">
            <a:avLst/>
          </a:prstGeom>
          <a:solidFill>
            <a:srgbClr val="2DD4C8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29" name="Text 25"/>
          <p:cNvSpPr txBox="1"/>
          <p:nvPr/>
        </p:nvSpPr>
        <p:spPr>
          <a:xfrm>
            <a:off x="6336792" y="4334220"/>
            <a:ext cx="5504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</a:t>
            </a:r>
            <a:endParaRPr lang="en-US" sz="1400" dirty="0"/>
          </a:p>
        </p:txBody>
      </p:sp>
      <p:sp>
        <p:nvSpPr>
          <p:cNvPr id="30" name="Text 26"/>
          <p:cNvSpPr txBox="1"/>
          <p:nvPr/>
        </p:nvSpPr>
        <p:spPr>
          <a:xfrm>
            <a:off x="6172200" y="4699980"/>
            <a:ext cx="548640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27000" indent="-127000">
              <a:spcAft>
                <a:spcPts val="700"/>
              </a:spcAft>
              <a:buSzPct val="100000"/>
              <a:buChar char="▪"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NOT_AVAILABLE with explicit reason instead of guessing coverage</a:t>
            </a:r>
            <a:endParaRPr lang="en-US" sz="1400" dirty="0"/>
          </a:p>
          <a:p>
            <a:pPr marL="127000" indent="-127000">
              <a:spcAft>
                <a:spcPts val="700"/>
              </a:spcAft>
              <a:buSzPct val="100000"/>
              <a:buChar char="▪"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public data with reproducible synthetic attack scenarios</a:t>
            </a:r>
            <a:endParaRPr lang="en-US" sz="1400" dirty="0"/>
          </a:p>
          <a:p>
            <a:pPr marL="127000" indent="-127000">
              <a:spcAft>
                <a:spcPts val="700"/>
              </a:spcAft>
              <a:buSzPct val="100000"/>
              <a:buChar char="▪"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Batch/quantized black-box probes prioritised over exhaustive white-box search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32" name="Text 28"/>
          <p:cNvSpPr txBox="1"/>
          <p:nvPr/>
        </p:nvSpPr>
        <p:spPr>
          <a:xfrm>
            <a:off x="256032" y="6547104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— DRISHTRA · Trusted Vision Assurance Fabric · PS 26228</a:t>
            </a:r>
            <a:endParaRPr lang="en-US" sz="1400" dirty="0"/>
          </a:p>
        </p:txBody>
      </p:sp>
      <p:sp>
        <p:nvSpPr>
          <p:cNvPr id="33" name="Text 29"/>
          <p:cNvSpPr txBox="1"/>
          <p:nvPr/>
        </p:nvSpPr>
        <p:spPr>
          <a:xfrm>
            <a:off x="11503152" y="654710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5" name="Oval 34" descr="Your startup LOGO">
            <a:extLst>
              <a:ext uri="{FF2B5EF4-FFF2-40B4-BE49-F238E27FC236}">
                <a16:creationId xmlns:a16="http://schemas.microsoft.com/office/drawing/2014/main" id="{10AF7C8A-D103-E339-ACFF-B7FA72660CB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56032" y="201730"/>
            <a:ext cx="2249850" cy="26780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HackHawks405</a:t>
            </a:r>
            <a:endParaRPr lang="en-IN" dirty="0"/>
          </a:p>
        </p:txBody>
      </p:sp>
      <p:pic>
        <p:nvPicPr>
          <p:cNvPr id="37" name="Picture 36">
            <a:hlinkClick r:id="rId4"/>
            <a:extLst>
              <a:ext uri="{FF2B5EF4-FFF2-40B4-BE49-F238E27FC236}">
                <a16:creationId xmlns:a16="http://schemas.microsoft.com/office/drawing/2014/main" id="{024BBD40-8EA0-C4F0-CD4D-2C95F3954B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4956" y="739684"/>
            <a:ext cx="631880" cy="631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334256" y="457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AND BENEFITS</a:t>
            </a:r>
            <a:endParaRPr lang="en-US" sz="2400" dirty="0"/>
          </a:p>
        </p:txBody>
      </p:sp>
      <p:pic>
        <p:nvPicPr>
          <p:cNvPr id="4" name="Image 1" descr="sih_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91440"/>
            <a:ext cx="493776" cy="53035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241280" y="10972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
HACKATHON 2026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256032" y="749808"/>
            <a:ext cx="11676888" cy="32004"/>
          </a:xfrm>
          <a:prstGeom prst="rect">
            <a:avLst/>
          </a:prstGeom>
          <a:solidFill>
            <a:srgbClr val="2DD4C8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7" name="Shape 3"/>
          <p:cNvSpPr/>
          <p:nvPr/>
        </p:nvSpPr>
        <p:spPr>
          <a:xfrm>
            <a:off x="365760" y="914400"/>
            <a:ext cx="82296" cy="292608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8" name="Text 4"/>
          <p:cNvSpPr txBox="1"/>
          <p:nvPr/>
        </p:nvSpPr>
        <p:spPr>
          <a:xfrm>
            <a:off x="530352" y="886968"/>
            <a:ext cx="5321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WAS THIS RESULT FLAGGED?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365760" y="11887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graph, not a bare trust score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02920" y="1536192"/>
            <a:ext cx="457200" cy="457200"/>
          </a:xfrm>
          <a:prstGeom prst="ellipse">
            <a:avLst/>
          </a:prstGeom>
          <a:solidFill>
            <a:srgbClr val="4A6FA5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11" name="Shape 7"/>
          <p:cNvSpPr/>
          <p:nvPr/>
        </p:nvSpPr>
        <p:spPr>
          <a:xfrm>
            <a:off x="681228" y="1627632"/>
            <a:ext cx="100584" cy="100584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endParaRPr lang="en-IN" sz="1400"/>
          </a:p>
        </p:txBody>
      </p:sp>
      <p:sp>
        <p:nvSpPr>
          <p:cNvPr id="12" name="Shape 8"/>
          <p:cNvSpPr/>
          <p:nvPr/>
        </p:nvSpPr>
        <p:spPr>
          <a:xfrm flipV="1">
            <a:off x="640080" y="1737360"/>
            <a:ext cx="182880" cy="137160"/>
          </a:xfrm>
          <a:prstGeom prst="trapezoid">
            <a:avLst/>
          </a:prstGeom>
          <a:solidFill>
            <a:srgbClr val="FFFFFF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endParaRPr lang="en-IN" sz="1400"/>
          </a:p>
        </p:txBody>
      </p:sp>
      <p:sp>
        <p:nvSpPr>
          <p:cNvPr id="13" name="Shape 9"/>
          <p:cNvSpPr/>
          <p:nvPr/>
        </p:nvSpPr>
        <p:spPr>
          <a:xfrm>
            <a:off x="1097280" y="1554480"/>
            <a:ext cx="4434840" cy="420624"/>
          </a:xfrm>
          <a:prstGeom prst="roundRect">
            <a:avLst>
              <a:gd name="adj" fmla="val 10870"/>
            </a:avLst>
          </a:prstGeom>
          <a:solidFill>
            <a:srgbClr val="EEF3F7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14" name="Text 10"/>
          <p:cNvSpPr txBox="1"/>
          <p:nvPr/>
        </p:nvSpPr>
        <p:spPr>
          <a:xfrm>
            <a:off x="1207008" y="1554480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 C-07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731520" y="1993392"/>
            <a:ext cx="0" cy="146304"/>
          </a:xfrm>
          <a:prstGeom prst="line">
            <a:avLst/>
          </a:prstGeom>
          <a:noFill/>
          <a:ln w="19050">
            <a:noFill/>
            <a:prstDash val="solid"/>
            <a:tailEnd type="triangle"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endParaRPr lang="en-IN" sz="1400"/>
          </a:p>
        </p:txBody>
      </p:sp>
      <p:sp>
        <p:nvSpPr>
          <p:cNvPr id="16" name="Shape 12"/>
          <p:cNvSpPr/>
          <p:nvPr/>
        </p:nvSpPr>
        <p:spPr>
          <a:xfrm>
            <a:off x="502920" y="2139696"/>
            <a:ext cx="457200" cy="457200"/>
          </a:xfrm>
          <a:prstGeom prst="ellipse">
            <a:avLst/>
          </a:prstGeom>
          <a:solidFill>
            <a:srgbClr val="7A6FB0"/>
          </a:solidFill>
          <a:ln w="19050">
            <a:noFill/>
            <a:prstDash val="solid"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endParaRPr lang="en-IN" sz="1400"/>
          </a:p>
        </p:txBody>
      </p:sp>
      <p:sp>
        <p:nvSpPr>
          <p:cNvPr id="17" name="Shape 13"/>
          <p:cNvSpPr/>
          <p:nvPr/>
        </p:nvSpPr>
        <p:spPr>
          <a:xfrm>
            <a:off x="635508" y="2240280"/>
            <a:ext cx="192024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endParaRPr lang="en-IN" sz="1400"/>
          </a:p>
        </p:txBody>
      </p:sp>
      <p:sp>
        <p:nvSpPr>
          <p:cNvPr id="18" name="Shape 14"/>
          <p:cNvSpPr/>
          <p:nvPr/>
        </p:nvSpPr>
        <p:spPr>
          <a:xfrm>
            <a:off x="670072" y="2309409"/>
            <a:ext cx="122895" cy="14813"/>
          </a:xfrm>
          <a:prstGeom prst="rect">
            <a:avLst/>
          </a:prstGeom>
          <a:solidFill>
            <a:srgbClr val="0E1A2B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endParaRPr lang="en-IN" sz="1400"/>
          </a:p>
        </p:txBody>
      </p:sp>
      <p:sp>
        <p:nvSpPr>
          <p:cNvPr id="19" name="Shape 15"/>
          <p:cNvSpPr/>
          <p:nvPr/>
        </p:nvSpPr>
        <p:spPr>
          <a:xfrm>
            <a:off x="670072" y="2358786"/>
            <a:ext cx="122895" cy="14813"/>
          </a:xfrm>
          <a:prstGeom prst="rect">
            <a:avLst/>
          </a:prstGeom>
          <a:solidFill>
            <a:srgbClr val="0E1A2B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endParaRPr lang="en-IN" sz="1400"/>
          </a:p>
        </p:txBody>
      </p:sp>
      <p:sp>
        <p:nvSpPr>
          <p:cNvPr id="20" name="Shape 16"/>
          <p:cNvSpPr/>
          <p:nvPr/>
        </p:nvSpPr>
        <p:spPr>
          <a:xfrm>
            <a:off x="670072" y="2408164"/>
            <a:ext cx="122895" cy="14813"/>
          </a:xfrm>
          <a:prstGeom prst="rect">
            <a:avLst/>
          </a:prstGeom>
          <a:solidFill>
            <a:srgbClr val="0E1A2B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endParaRPr lang="en-IN" sz="1400"/>
          </a:p>
        </p:txBody>
      </p:sp>
      <p:sp>
        <p:nvSpPr>
          <p:cNvPr id="21" name="Shape 17"/>
          <p:cNvSpPr/>
          <p:nvPr/>
        </p:nvSpPr>
        <p:spPr>
          <a:xfrm>
            <a:off x="1097280" y="2157984"/>
            <a:ext cx="4434840" cy="420624"/>
          </a:xfrm>
          <a:prstGeom prst="roundRect">
            <a:avLst>
              <a:gd name="adj" fmla="val 10870"/>
            </a:avLst>
          </a:prstGeom>
          <a:solidFill>
            <a:srgbClr val="EEF3F7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22" name="Text 18"/>
          <p:cNvSpPr txBox="1"/>
          <p:nvPr/>
        </p:nvSpPr>
        <p:spPr>
          <a:xfrm>
            <a:off x="1207008" y="2157984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D-14 — batch anomaly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" y="2596896"/>
            <a:ext cx="0" cy="146304"/>
          </a:xfrm>
          <a:prstGeom prst="line">
            <a:avLst/>
          </a:prstGeom>
          <a:noFill/>
          <a:ln w="19050">
            <a:noFill/>
            <a:prstDash val="solid"/>
            <a:tailEnd type="triangle"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endParaRPr lang="en-IN" sz="1400"/>
          </a:p>
        </p:txBody>
      </p:sp>
      <p:sp>
        <p:nvSpPr>
          <p:cNvPr id="24" name="Shape 20"/>
          <p:cNvSpPr/>
          <p:nvPr/>
        </p:nvSpPr>
        <p:spPr>
          <a:xfrm>
            <a:off x="502920" y="2743200"/>
            <a:ext cx="457200" cy="457200"/>
          </a:xfrm>
          <a:prstGeom prst="ellipse">
            <a:avLst/>
          </a:prstGeom>
          <a:solidFill>
            <a:srgbClr val="16283F"/>
          </a:solidFill>
          <a:ln w="19050">
            <a:noFill/>
            <a:prstDash val="solid"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endParaRPr lang="en-IN" sz="1400"/>
          </a:p>
        </p:txBody>
      </p:sp>
      <p:sp>
        <p:nvSpPr>
          <p:cNvPr id="25" name="Shape 21"/>
          <p:cNvSpPr/>
          <p:nvPr/>
        </p:nvSpPr>
        <p:spPr>
          <a:xfrm>
            <a:off x="603504" y="2843784"/>
            <a:ext cx="256032" cy="256032"/>
          </a:xfrm>
          <a:prstGeom prst="cube">
            <a:avLst/>
          </a:prstGeom>
          <a:solidFill>
            <a:srgbClr val="FFFFFF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/>
        </p:spPr>
        <p:txBody>
          <a:bodyPr/>
          <a:lstStyle/>
          <a:p>
            <a:endParaRPr lang="en-IN" sz="1400"/>
          </a:p>
        </p:txBody>
      </p:sp>
      <p:sp>
        <p:nvSpPr>
          <p:cNvPr id="26" name="Shape 22"/>
          <p:cNvSpPr/>
          <p:nvPr/>
        </p:nvSpPr>
        <p:spPr>
          <a:xfrm>
            <a:off x="1097280" y="2761488"/>
            <a:ext cx="4434840" cy="420624"/>
          </a:xfrm>
          <a:prstGeom prst="roundRect">
            <a:avLst>
              <a:gd name="adj" fmla="val 10870"/>
            </a:avLst>
          </a:prstGeom>
          <a:solidFill>
            <a:srgbClr val="EEF3F7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27" name="Text 23"/>
          <p:cNvSpPr txBox="1"/>
          <p:nvPr/>
        </p:nvSpPr>
        <p:spPr>
          <a:xfrm>
            <a:off x="1207008" y="2761488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M-04 — behavioural deviation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731520" y="3200400"/>
            <a:ext cx="0" cy="146304"/>
          </a:xfrm>
          <a:prstGeom prst="line">
            <a:avLst/>
          </a:prstGeom>
          <a:noFill/>
          <a:ln w="19050">
            <a:noFill/>
            <a:prstDash val="solid"/>
            <a:tailEnd type="triangle"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endParaRPr lang="en-IN" sz="1400"/>
          </a:p>
        </p:txBody>
      </p:sp>
      <p:sp>
        <p:nvSpPr>
          <p:cNvPr id="29" name="Shape 25"/>
          <p:cNvSpPr/>
          <p:nvPr/>
        </p:nvSpPr>
        <p:spPr>
          <a:xfrm>
            <a:off x="502920" y="3346704"/>
            <a:ext cx="457200" cy="457200"/>
          </a:xfrm>
          <a:prstGeom prst="ellipse">
            <a:avLst/>
          </a:prstGeom>
          <a:solidFill>
            <a:srgbClr val="2DD4C8"/>
          </a:solidFill>
          <a:ln w="19050">
            <a:noFill/>
            <a:prstDash val="solid"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endParaRPr lang="en-IN" sz="1400"/>
          </a:p>
        </p:txBody>
      </p:sp>
      <p:sp>
        <p:nvSpPr>
          <p:cNvPr id="30" name="Shape 26"/>
          <p:cNvSpPr/>
          <p:nvPr/>
        </p:nvSpPr>
        <p:spPr>
          <a:xfrm>
            <a:off x="589788" y="3449574"/>
            <a:ext cx="283464" cy="251460"/>
          </a:xfrm>
          <a:custGeom>
            <a:avLst/>
            <a:gdLst/>
            <a:ahLst/>
            <a:cxnLst/>
            <a:rect l="l" t="t" r="r" b="b"/>
            <a:pathLst>
              <a:path w="283464" h="251460">
                <a:moveTo>
                  <a:pt x="0" y="125730"/>
                </a:moveTo>
                <a:quadBezTo>
                  <a:pt x="141732" y="0"/>
                  <a:pt x="283464" y="125730"/>
                </a:quadBezTo>
                <a:quadBezTo>
                  <a:pt x="141732" y="251460"/>
                  <a:pt x="0" y="125730"/>
                </a:quad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endParaRPr lang="en-IN" sz="1400"/>
          </a:p>
        </p:txBody>
      </p:sp>
      <p:sp>
        <p:nvSpPr>
          <p:cNvPr id="31" name="Shape 27"/>
          <p:cNvSpPr/>
          <p:nvPr/>
        </p:nvSpPr>
        <p:spPr>
          <a:xfrm>
            <a:off x="690372" y="3534156"/>
            <a:ext cx="82296" cy="82296"/>
          </a:xfrm>
          <a:prstGeom prst="ellipse">
            <a:avLst/>
          </a:prstGeom>
          <a:solidFill>
            <a:srgbClr val="0E1A2B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endParaRPr lang="en-IN" sz="1400"/>
          </a:p>
        </p:txBody>
      </p:sp>
      <p:sp>
        <p:nvSpPr>
          <p:cNvPr id="32" name="Shape 28"/>
          <p:cNvSpPr/>
          <p:nvPr/>
        </p:nvSpPr>
        <p:spPr>
          <a:xfrm>
            <a:off x="1097280" y="3364992"/>
            <a:ext cx="4434840" cy="420624"/>
          </a:xfrm>
          <a:prstGeom prst="roundRect">
            <a:avLst>
              <a:gd name="adj" fmla="val 10870"/>
            </a:avLst>
          </a:prstGeom>
          <a:solidFill>
            <a:srgbClr val="EEF3F7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33" name="Text 29"/>
          <p:cNvSpPr txBox="1"/>
          <p:nvPr/>
        </p:nvSpPr>
        <p:spPr>
          <a:xfrm>
            <a:off x="1207008" y="3364992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I-883 — signature mismatch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731520" y="3803904"/>
            <a:ext cx="0" cy="146304"/>
          </a:xfrm>
          <a:prstGeom prst="line">
            <a:avLst/>
          </a:prstGeom>
          <a:noFill/>
          <a:ln w="19050">
            <a:noFill/>
            <a:prstDash val="solid"/>
            <a:tailEnd type="triangle"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endParaRPr lang="en-IN" sz="1400"/>
          </a:p>
        </p:txBody>
      </p:sp>
      <p:sp>
        <p:nvSpPr>
          <p:cNvPr id="35" name="Shape 31"/>
          <p:cNvSpPr/>
          <p:nvPr/>
        </p:nvSpPr>
        <p:spPr>
          <a:xfrm>
            <a:off x="502920" y="3950208"/>
            <a:ext cx="457200" cy="457200"/>
          </a:xfrm>
          <a:prstGeom prst="ellipse">
            <a:avLst/>
          </a:prstGeom>
          <a:solidFill>
            <a:srgbClr val="E8A33D"/>
          </a:solidFill>
          <a:ln w="19050">
            <a:noFill/>
            <a:prstDash val="solid"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endParaRPr lang="en-IN" sz="1400"/>
          </a:p>
        </p:txBody>
      </p:sp>
      <p:sp>
        <p:nvSpPr>
          <p:cNvPr id="36" name="Shape 32"/>
          <p:cNvSpPr/>
          <p:nvPr/>
        </p:nvSpPr>
        <p:spPr>
          <a:xfrm>
            <a:off x="617220" y="4041648"/>
            <a:ext cx="228600" cy="265176"/>
          </a:xfrm>
          <a:custGeom>
            <a:avLst/>
            <a:gdLst/>
            <a:ahLst/>
            <a:cxnLst/>
            <a:rect l="l" t="t" r="r" b="b"/>
            <a:pathLst>
              <a:path w="228600" h="265176">
                <a:moveTo>
                  <a:pt x="0" y="0"/>
                </a:moveTo>
                <a:lnTo>
                  <a:pt x="228600" y="0"/>
                </a:lnTo>
                <a:lnTo>
                  <a:pt x="228600" y="145847"/>
                </a:lnTo>
                <a:lnTo>
                  <a:pt x="114300" y="265176"/>
                </a:lnTo>
                <a:lnTo>
                  <a:pt x="0" y="14584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endParaRPr lang="en-IN" sz="1400"/>
          </a:p>
        </p:txBody>
      </p:sp>
      <p:sp>
        <p:nvSpPr>
          <p:cNvPr id="37" name="Shape 33"/>
          <p:cNvSpPr/>
          <p:nvPr/>
        </p:nvSpPr>
        <p:spPr>
          <a:xfrm>
            <a:off x="1097280" y="3968496"/>
            <a:ext cx="4434840" cy="420624"/>
          </a:xfrm>
          <a:prstGeom prst="roundRect">
            <a:avLst>
              <a:gd name="adj" fmla="val 10870"/>
            </a:avLst>
          </a:prstGeom>
          <a:solidFill>
            <a:srgbClr val="E8A33D"/>
          </a:solidFill>
          <a:ln w="9525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38" name="Text 34"/>
          <p:cNvSpPr txBox="1"/>
          <p:nvPr/>
        </p:nvSpPr>
        <p:spPr>
          <a:xfrm>
            <a:off x="1207008" y="3968496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 Case → QUARANTINE</a:t>
            </a:r>
            <a:endParaRPr lang="en-US" sz="1400" dirty="0"/>
          </a:p>
        </p:txBody>
      </p:sp>
      <p:sp>
        <p:nvSpPr>
          <p:cNvPr id="39" name="Text 35"/>
          <p:cNvSpPr txBox="1"/>
          <p:nvPr/>
        </p:nvSpPr>
        <p:spPr>
          <a:xfrm>
            <a:off x="502920" y="484174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“Risk = 82%”, the analyst sees evidence, coverage and limitations behind every disposition.</a:t>
            </a:r>
            <a:endParaRPr lang="en-US" sz="1400" dirty="0"/>
          </a:p>
        </p:txBody>
      </p:sp>
      <p:sp>
        <p:nvSpPr>
          <p:cNvPr id="40" name="Shape 36"/>
          <p:cNvSpPr/>
          <p:nvPr/>
        </p:nvSpPr>
        <p:spPr>
          <a:xfrm>
            <a:off x="6263640" y="914400"/>
            <a:ext cx="82296" cy="292608"/>
          </a:xfrm>
          <a:prstGeom prst="rect">
            <a:avLst/>
          </a:prstGeom>
          <a:solidFill>
            <a:srgbClr val="4A6FA5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41" name="Text 37"/>
          <p:cNvSpPr txBox="1"/>
          <p:nvPr/>
        </p:nvSpPr>
        <p:spPr>
          <a:xfrm>
            <a:off x="6428232" y="886968"/>
            <a:ext cx="5413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400" dirty="0"/>
          </a:p>
        </p:txBody>
      </p:sp>
      <p:sp>
        <p:nvSpPr>
          <p:cNvPr id="42" name="Shape 38"/>
          <p:cNvSpPr/>
          <p:nvPr/>
        </p:nvSpPr>
        <p:spPr>
          <a:xfrm>
            <a:off x="6263640" y="1298448"/>
            <a:ext cx="777240" cy="777240"/>
          </a:xfrm>
          <a:prstGeom prst="ellipse">
            <a:avLst/>
          </a:prstGeom>
          <a:solidFill>
            <a:srgbClr val="4A6FA5"/>
          </a:solidFill>
          <a:ln w="19050">
            <a:solidFill>
              <a:srgbClr val="FFFFFF"/>
            </a:solidFill>
            <a:prstDash val="solid"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/>
          <a:lstStyle/>
          <a:p>
            <a:endParaRPr lang="en-IN" sz="1400"/>
          </a:p>
        </p:txBody>
      </p:sp>
      <p:sp>
        <p:nvSpPr>
          <p:cNvPr id="43" name="Shape 39"/>
          <p:cNvSpPr/>
          <p:nvPr/>
        </p:nvSpPr>
        <p:spPr>
          <a:xfrm>
            <a:off x="6566764" y="1453896"/>
            <a:ext cx="170993" cy="170993"/>
          </a:xfrm>
          <a:prstGeom prst="ellipse">
            <a:avLst/>
          </a:prstGeom>
          <a:solidFill>
            <a:srgbClr val="FFFFFF"/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/>
          <a:lstStyle/>
          <a:p>
            <a:endParaRPr lang="en-IN" sz="1400"/>
          </a:p>
        </p:txBody>
      </p:sp>
      <p:sp>
        <p:nvSpPr>
          <p:cNvPr id="44" name="Shape 40"/>
          <p:cNvSpPr/>
          <p:nvPr/>
        </p:nvSpPr>
        <p:spPr>
          <a:xfrm flipV="1">
            <a:off x="6496812" y="1640434"/>
            <a:ext cx="310896" cy="233172"/>
          </a:xfrm>
          <a:prstGeom prst="trapezoid">
            <a:avLst/>
          </a:prstGeom>
          <a:solidFill>
            <a:srgbClr val="FFFFFF"/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/>
          <a:lstStyle/>
          <a:p>
            <a:endParaRPr lang="en-IN" sz="1400"/>
          </a:p>
        </p:txBody>
      </p:sp>
      <p:sp>
        <p:nvSpPr>
          <p:cNvPr id="45" name="Text 41"/>
          <p:cNvSpPr txBox="1"/>
          <p:nvPr/>
        </p:nvSpPr>
        <p:spPr>
          <a:xfrm>
            <a:off x="6080760" y="2103120"/>
            <a:ext cx="1143000" cy="384048"/>
          </a:xfrm>
          <a:prstGeom prst="rect">
            <a:avLst/>
          </a:prstGeom>
          <a:noFill/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Army / DGIS
</a:t>
            </a: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</a:t>
            </a:r>
            <a:endParaRPr lang="en-US" sz="1400" dirty="0"/>
          </a:p>
        </p:txBody>
      </p:sp>
      <p:sp>
        <p:nvSpPr>
          <p:cNvPr id="46" name="Shape 42"/>
          <p:cNvSpPr/>
          <p:nvPr/>
        </p:nvSpPr>
        <p:spPr>
          <a:xfrm>
            <a:off x="7580376" y="1298448"/>
            <a:ext cx="777240" cy="777240"/>
          </a:xfrm>
          <a:prstGeom prst="ellipse">
            <a:avLst/>
          </a:prstGeom>
          <a:solidFill>
            <a:srgbClr val="4A6FA5"/>
          </a:solidFill>
          <a:ln w="19050">
            <a:solidFill>
              <a:srgbClr val="FFFFFF"/>
            </a:solidFill>
            <a:prstDash val="solid"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/>
          <a:lstStyle/>
          <a:p>
            <a:endParaRPr lang="en-IN" sz="1400"/>
          </a:p>
        </p:txBody>
      </p:sp>
      <p:sp>
        <p:nvSpPr>
          <p:cNvPr id="47" name="Shape 43"/>
          <p:cNvSpPr/>
          <p:nvPr/>
        </p:nvSpPr>
        <p:spPr>
          <a:xfrm>
            <a:off x="7774686" y="1453896"/>
            <a:ext cx="388620" cy="450799"/>
          </a:xfrm>
          <a:custGeom>
            <a:avLst/>
            <a:gdLst/>
            <a:ahLst/>
            <a:cxnLst/>
            <a:rect l="l" t="t" r="r" b="b"/>
            <a:pathLst>
              <a:path w="388620" h="450799">
                <a:moveTo>
                  <a:pt x="0" y="0"/>
                </a:moveTo>
                <a:lnTo>
                  <a:pt x="388620" y="0"/>
                </a:lnTo>
                <a:lnTo>
                  <a:pt x="388620" y="247940"/>
                </a:lnTo>
                <a:lnTo>
                  <a:pt x="194310" y="450799"/>
                </a:lnTo>
                <a:lnTo>
                  <a:pt x="0" y="247940"/>
                </a:lnTo>
                <a:close/>
              </a:path>
            </a:pathLst>
          </a:custGeom>
          <a:solidFill>
            <a:srgbClr val="FFFFFF"/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/>
          <a:lstStyle/>
          <a:p>
            <a:endParaRPr lang="en-IN" sz="1400"/>
          </a:p>
        </p:txBody>
      </p:sp>
      <p:sp>
        <p:nvSpPr>
          <p:cNvPr id="48" name="Text 44"/>
          <p:cNvSpPr txBox="1"/>
          <p:nvPr/>
        </p:nvSpPr>
        <p:spPr>
          <a:xfrm>
            <a:off x="7397496" y="2103120"/>
            <a:ext cx="1143000" cy="384048"/>
          </a:xfrm>
          <a:prstGeom prst="rect">
            <a:avLst/>
          </a:prstGeom>
          <a:noFill/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AI
</a:t>
            </a: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Integrators</a:t>
            </a:r>
            <a:endParaRPr lang="en-US" sz="1400" dirty="0"/>
          </a:p>
        </p:txBody>
      </p:sp>
      <p:sp>
        <p:nvSpPr>
          <p:cNvPr id="49" name="Shape 45"/>
          <p:cNvSpPr/>
          <p:nvPr/>
        </p:nvSpPr>
        <p:spPr>
          <a:xfrm>
            <a:off x="8897112" y="1298448"/>
            <a:ext cx="777240" cy="777240"/>
          </a:xfrm>
          <a:prstGeom prst="ellipse">
            <a:avLst/>
          </a:prstGeom>
          <a:solidFill>
            <a:srgbClr val="4A6FA5"/>
          </a:solidFill>
          <a:ln w="19050">
            <a:solidFill>
              <a:srgbClr val="FFFFFF"/>
            </a:solidFill>
            <a:prstDash val="solid"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/>
          <a:lstStyle/>
          <a:p>
            <a:endParaRPr lang="en-IN" sz="1400"/>
          </a:p>
        </p:txBody>
      </p:sp>
      <p:sp>
        <p:nvSpPr>
          <p:cNvPr id="50" name="Shape 46"/>
          <p:cNvSpPr/>
          <p:nvPr/>
        </p:nvSpPr>
        <p:spPr>
          <a:xfrm>
            <a:off x="9044788" y="1473327"/>
            <a:ext cx="481889" cy="427482"/>
          </a:xfrm>
          <a:custGeom>
            <a:avLst/>
            <a:gdLst/>
            <a:ahLst/>
            <a:cxnLst/>
            <a:rect l="l" t="t" r="r" b="b"/>
            <a:pathLst>
              <a:path w="481889" h="427482">
                <a:moveTo>
                  <a:pt x="0" y="213741"/>
                </a:moveTo>
                <a:quadBezTo>
                  <a:pt x="240944" y="0"/>
                  <a:pt x="481889" y="213741"/>
                </a:quadBezTo>
                <a:quadBezTo>
                  <a:pt x="240944" y="427482"/>
                  <a:pt x="0" y="213741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/>
          <a:lstStyle/>
          <a:p>
            <a:endParaRPr lang="en-IN" sz="1400"/>
          </a:p>
        </p:txBody>
      </p:sp>
      <p:sp>
        <p:nvSpPr>
          <p:cNvPr id="51" name="Shape 47"/>
          <p:cNvSpPr/>
          <p:nvPr/>
        </p:nvSpPr>
        <p:spPr>
          <a:xfrm>
            <a:off x="9215780" y="1617116"/>
            <a:ext cx="139903" cy="139903"/>
          </a:xfrm>
          <a:prstGeom prst="ellipse">
            <a:avLst/>
          </a:prstGeom>
          <a:solidFill>
            <a:srgbClr val="0E1A2B"/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/>
          <a:lstStyle/>
          <a:p>
            <a:endParaRPr lang="en-IN" sz="1400"/>
          </a:p>
        </p:txBody>
      </p:sp>
      <p:sp>
        <p:nvSpPr>
          <p:cNvPr id="52" name="Text 48"/>
          <p:cNvSpPr txBox="1"/>
          <p:nvPr/>
        </p:nvSpPr>
        <p:spPr>
          <a:xfrm>
            <a:off x="8714232" y="2103120"/>
            <a:ext cx="1143000" cy="384048"/>
          </a:xfrm>
          <a:prstGeom prst="rect">
            <a:avLst/>
          </a:prstGeom>
          <a:noFill/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/ Audit
</a:t>
            </a: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400" dirty="0"/>
          </a:p>
        </p:txBody>
      </p:sp>
      <p:sp>
        <p:nvSpPr>
          <p:cNvPr id="53" name="Shape 49"/>
          <p:cNvSpPr/>
          <p:nvPr/>
        </p:nvSpPr>
        <p:spPr>
          <a:xfrm>
            <a:off x="10213848" y="1298448"/>
            <a:ext cx="777240" cy="777240"/>
          </a:xfrm>
          <a:prstGeom prst="ellipse">
            <a:avLst/>
          </a:prstGeom>
          <a:solidFill>
            <a:srgbClr val="4A6FA5"/>
          </a:solidFill>
          <a:ln w="19050">
            <a:solidFill>
              <a:srgbClr val="FFFFFF"/>
            </a:solidFill>
            <a:prstDash val="solid"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/>
          <a:lstStyle/>
          <a:p>
            <a:endParaRPr lang="en-IN" sz="1400"/>
          </a:p>
        </p:txBody>
      </p:sp>
      <p:sp>
        <p:nvSpPr>
          <p:cNvPr id="54" name="Shape 50"/>
          <p:cNvSpPr/>
          <p:nvPr/>
        </p:nvSpPr>
        <p:spPr>
          <a:xfrm>
            <a:off x="10471892" y="1480633"/>
            <a:ext cx="261153" cy="261153"/>
          </a:xfrm>
          <a:prstGeom prst="blockArc">
            <a:avLst>
              <a:gd name="adj1" fmla="val 10800000"/>
              <a:gd name="adj2" fmla="val 21600000"/>
              <a:gd name="adj3" fmla="val 16000"/>
            </a:avLst>
          </a:prstGeom>
          <a:solidFill>
            <a:srgbClr val="FFFFFF"/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/>
          <a:lstStyle/>
          <a:p>
            <a:endParaRPr lang="en-IN" sz="1400"/>
          </a:p>
        </p:txBody>
      </p:sp>
      <p:sp>
        <p:nvSpPr>
          <p:cNvPr id="55" name="Shape 51"/>
          <p:cNvSpPr/>
          <p:nvPr/>
        </p:nvSpPr>
        <p:spPr>
          <a:xfrm>
            <a:off x="10447020" y="1702613"/>
            <a:ext cx="310896" cy="233172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/>
          <a:lstStyle/>
          <a:p>
            <a:endParaRPr lang="en-IN" sz="1400"/>
          </a:p>
        </p:txBody>
      </p:sp>
      <p:sp>
        <p:nvSpPr>
          <p:cNvPr id="56" name="Text 52"/>
          <p:cNvSpPr txBox="1"/>
          <p:nvPr/>
        </p:nvSpPr>
        <p:spPr>
          <a:xfrm>
            <a:off x="10030968" y="2103120"/>
            <a:ext cx="1143000" cy="384048"/>
          </a:xfrm>
          <a:prstGeom prst="rect">
            <a:avLst/>
          </a:prstGeom>
          <a:noFill/>
          <a:ln/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
</a:t>
            </a: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</a:t>
            </a:r>
            <a:endParaRPr lang="en-US" sz="1400" dirty="0"/>
          </a:p>
        </p:txBody>
      </p:sp>
      <p:sp>
        <p:nvSpPr>
          <p:cNvPr id="57" name="Shape 53"/>
          <p:cNvSpPr/>
          <p:nvPr/>
        </p:nvSpPr>
        <p:spPr>
          <a:xfrm>
            <a:off x="6172200" y="2982628"/>
            <a:ext cx="82296" cy="292608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58" name="Text 54"/>
          <p:cNvSpPr txBox="1"/>
          <p:nvPr/>
        </p:nvSpPr>
        <p:spPr>
          <a:xfrm>
            <a:off x="6336792" y="2955196"/>
            <a:ext cx="5413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BENEFITS</a:t>
            </a:r>
            <a:endParaRPr lang="en-US" sz="1400" dirty="0"/>
          </a:p>
        </p:txBody>
      </p:sp>
      <p:sp>
        <p:nvSpPr>
          <p:cNvPr id="59" name="Shape 55"/>
          <p:cNvSpPr/>
          <p:nvPr/>
        </p:nvSpPr>
        <p:spPr>
          <a:xfrm>
            <a:off x="6172200" y="3339244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60" name="Text 56"/>
          <p:cNvSpPr txBox="1"/>
          <p:nvPr/>
        </p:nvSpPr>
        <p:spPr>
          <a:xfrm>
            <a:off x="6172200" y="33392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1" name="Text 57"/>
          <p:cNvSpPr txBox="1"/>
          <p:nvPr/>
        </p:nvSpPr>
        <p:spPr>
          <a:xfrm>
            <a:off x="6501384" y="3302668"/>
            <a:ext cx="5157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adoption of multi-contributor CV without assuming every source is trusted</a:t>
            </a:r>
            <a:endParaRPr lang="en-US" sz="1400" dirty="0"/>
          </a:p>
        </p:txBody>
      </p:sp>
      <p:sp>
        <p:nvSpPr>
          <p:cNvPr id="62" name="Shape 58"/>
          <p:cNvSpPr/>
          <p:nvPr/>
        </p:nvSpPr>
        <p:spPr>
          <a:xfrm>
            <a:off x="6172200" y="3833020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63" name="Text 59"/>
          <p:cNvSpPr txBox="1"/>
          <p:nvPr/>
        </p:nvSpPr>
        <p:spPr>
          <a:xfrm>
            <a:off x="6172200" y="38330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4" name="Text 60"/>
          <p:cNvSpPr txBox="1"/>
          <p:nvPr/>
        </p:nvSpPr>
        <p:spPr>
          <a:xfrm>
            <a:off x="6501384" y="3796444"/>
            <a:ext cx="5157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forensic investigation via evidence graph, not manual reconstruction</a:t>
            </a:r>
            <a:endParaRPr lang="en-US" sz="1400" dirty="0"/>
          </a:p>
        </p:txBody>
      </p:sp>
      <p:sp>
        <p:nvSpPr>
          <p:cNvPr id="65" name="Shape 61"/>
          <p:cNvSpPr/>
          <p:nvPr/>
        </p:nvSpPr>
        <p:spPr>
          <a:xfrm>
            <a:off x="6172200" y="4326796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66" name="Text 62"/>
          <p:cNvSpPr txBox="1"/>
          <p:nvPr/>
        </p:nvSpPr>
        <p:spPr>
          <a:xfrm>
            <a:off x="6172200" y="43267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7" name="Text 63"/>
          <p:cNvSpPr txBox="1"/>
          <p:nvPr/>
        </p:nvSpPr>
        <p:spPr>
          <a:xfrm>
            <a:off x="6501384" y="4290220"/>
            <a:ext cx="5157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Auditable, coverage-honest AI decisions for controlled vendor/model onboarding</a:t>
            </a:r>
            <a:endParaRPr lang="en-US" sz="1400" dirty="0"/>
          </a:p>
        </p:txBody>
      </p:sp>
      <p:sp>
        <p:nvSpPr>
          <p:cNvPr id="68" name="Shape 64"/>
          <p:cNvSpPr/>
          <p:nvPr/>
        </p:nvSpPr>
        <p:spPr>
          <a:xfrm>
            <a:off x="6172200" y="4820572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69" name="Text 65"/>
          <p:cNvSpPr txBox="1"/>
          <p:nvPr/>
        </p:nvSpPr>
        <p:spPr>
          <a:xfrm>
            <a:off x="6172200" y="48205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0" name="Text 66"/>
          <p:cNvSpPr txBox="1"/>
          <p:nvPr/>
        </p:nvSpPr>
        <p:spPr>
          <a:xfrm>
            <a:off x="6501384" y="4783996"/>
            <a:ext cx="5157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fully offline / air-gapped — no cloud dependency for production use</a:t>
            </a:r>
            <a:endParaRPr lang="en-US" sz="1400" dirty="0"/>
          </a:p>
        </p:txBody>
      </p:sp>
      <p:sp>
        <p:nvSpPr>
          <p:cNvPr id="71" name="Shape 67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72" name="Text 68"/>
          <p:cNvSpPr txBox="1"/>
          <p:nvPr/>
        </p:nvSpPr>
        <p:spPr>
          <a:xfrm>
            <a:off x="256032" y="6547104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— DRISHTRA · Trusted Vision Assurance Fabric · PS 26228</a:t>
            </a:r>
            <a:endParaRPr lang="en-US" sz="1400" dirty="0"/>
          </a:p>
        </p:txBody>
      </p:sp>
      <p:sp>
        <p:nvSpPr>
          <p:cNvPr id="73" name="Text 69"/>
          <p:cNvSpPr txBox="1"/>
          <p:nvPr/>
        </p:nvSpPr>
        <p:spPr>
          <a:xfrm>
            <a:off x="11503152" y="654710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75" name="Oval 74" descr="Your startup LOGO">
            <a:extLst>
              <a:ext uri="{FF2B5EF4-FFF2-40B4-BE49-F238E27FC236}">
                <a16:creationId xmlns:a16="http://schemas.microsoft.com/office/drawing/2014/main" id="{5076A4B2-99C3-8A88-D72D-5638A4A277E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56032" y="201730"/>
            <a:ext cx="2249850" cy="26780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HackHawks405</a:t>
            </a:r>
            <a:endParaRPr lang="en-IN" dirty="0"/>
          </a:p>
        </p:txBody>
      </p:sp>
      <p:pic>
        <p:nvPicPr>
          <p:cNvPr id="77" name="Picture 76">
            <a:hlinkClick r:id="rId4"/>
            <a:extLst>
              <a:ext uri="{FF2B5EF4-FFF2-40B4-BE49-F238E27FC236}">
                <a16:creationId xmlns:a16="http://schemas.microsoft.com/office/drawing/2014/main" id="{88FEC44B-E8EE-38A2-93DF-FCDE2018A7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14756" y="808300"/>
            <a:ext cx="631880" cy="631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339191" y="133749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AND REFERENCES</a:t>
            </a:r>
            <a:endParaRPr lang="en-US" sz="2400" dirty="0"/>
          </a:p>
        </p:txBody>
      </p:sp>
      <p:pic>
        <p:nvPicPr>
          <p:cNvPr id="4" name="Image 1" descr="sih_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91440"/>
            <a:ext cx="493776" cy="53035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241280" y="10972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
HACKATHON 2026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256032" y="749808"/>
            <a:ext cx="11676888" cy="32004"/>
          </a:xfrm>
          <a:prstGeom prst="rect">
            <a:avLst/>
          </a:prstGeom>
          <a:solidFill>
            <a:srgbClr val="2DD4C8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7" name="Shape 3"/>
          <p:cNvSpPr/>
          <p:nvPr/>
        </p:nvSpPr>
        <p:spPr>
          <a:xfrm>
            <a:off x="365760" y="914400"/>
            <a:ext cx="82296" cy="292608"/>
          </a:xfrm>
          <a:prstGeom prst="rect">
            <a:avLst/>
          </a:prstGeom>
          <a:solidFill>
            <a:srgbClr val="4A6FA5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8" name="Text 4"/>
          <p:cNvSpPr txBox="1"/>
          <p:nvPr/>
        </p:nvSpPr>
        <p:spPr>
          <a:xfrm>
            <a:off x="530352" y="886968"/>
            <a:ext cx="6693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CAPABILITY → OUR CONTRIBUTION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365760" y="1298448"/>
            <a:ext cx="6858000" cy="685800"/>
          </a:xfrm>
          <a:prstGeom prst="rect">
            <a:avLst/>
          </a:prstGeom>
          <a:solidFill>
            <a:srgbClr val="EEF3F7"/>
          </a:solidFill>
          <a:ln w="6350">
            <a:solidFill>
              <a:srgbClr val="E5EAF1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10" name="Text 6"/>
          <p:cNvSpPr txBox="1"/>
          <p:nvPr/>
        </p:nvSpPr>
        <p:spPr>
          <a:xfrm>
            <a:off x="475488" y="1298448"/>
            <a:ext cx="283464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TrojAI / BackdoorBench
</a:t>
            </a: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backdoor/Trojan benchmarks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364992" y="1540764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12" name="Text 8"/>
          <p:cNvSpPr txBox="1"/>
          <p:nvPr/>
        </p:nvSpPr>
        <p:spPr>
          <a:xfrm>
            <a:off x="3364992" y="15407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675888" y="1298448"/>
            <a:ext cx="352044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Pipeline-level assurance across the full CV lifecycle, not isolated detection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65760" y="2039112"/>
            <a:ext cx="68580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1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15" name="Text 11"/>
          <p:cNvSpPr txBox="1"/>
          <p:nvPr/>
        </p:nvSpPr>
        <p:spPr>
          <a:xfrm>
            <a:off x="475488" y="2039112"/>
            <a:ext cx="283464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C2PA
</a:t>
            </a: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AI/ML provenance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3364992" y="2281428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17" name="Text 13"/>
          <p:cNvSpPr txBox="1"/>
          <p:nvPr/>
        </p:nvSpPr>
        <p:spPr>
          <a:xfrm>
            <a:off x="3364992" y="22814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3675888" y="2039112"/>
            <a:ext cx="352044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CV-specific offline workflow bound to behavioural + dataset evidence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365760" y="2779776"/>
            <a:ext cx="6858000" cy="685800"/>
          </a:xfrm>
          <a:prstGeom prst="rect">
            <a:avLst/>
          </a:prstGeom>
          <a:solidFill>
            <a:srgbClr val="EEF3F7"/>
          </a:solidFill>
          <a:ln w="6350">
            <a:solidFill>
              <a:srgbClr val="E5EAF1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20" name="Text 16"/>
          <p:cNvSpPr txBox="1"/>
          <p:nvPr/>
        </p:nvSpPr>
        <p:spPr>
          <a:xfrm>
            <a:off x="475488" y="2779776"/>
            <a:ext cx="283464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HiddenLayer / Hugging Face
</a:t>
            </a: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model/file security scanning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3364992" y="3022092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22" name="Text 18"/>
          <p:cNvSpPr txBox="1"/>
          <p:nvPr/>
        </p:nvSpPr>
        <p:spPr>
          <a:xfrm>
            <a:off x="3364992" y="30220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3675888" y="2779776"/>
            <a:ext cx="352044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Multi-contributor evidence context, not single-model/file scanning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365760" y="3520440"/>
            <a:ext cx="68580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1"/>
            </a:solidFill>
            <a:prstDash val="solid"/>
          </a:ln>
        </p:spPr>
        <p:txBody>
          <a:bodyPr/>
          <a:lstStyle/>
          <a:p>
            <a:endParaRPr lang="en-IN" sz="1400"/>
          </a:p>
        </p:txBody>
      </p:sp>
      <p:sp>
        <p:nvSpPr>
          <p:cNvPr id="25" name="Text 21"/>
          <p:cNvSpPr txBox="1"/>
          <p:nvPr/>
        </p:nvSpPr>
        <p:spPr>
          <a:xfrm>
            <a:off x="475488" y="3520440"/>
            <a:ext cx="283464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SAIF / Microsoft AI Defense
</a:t>
            </a: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supply-chain security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3364992" y="3762756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27" name="Text 23"/>
          <p:cNvSpPr txBox="1"/>
          <p:nvPr/>
        </p:nvSpPr>
        <p:spPr>
          <a:xfrm>
            <a:off x="3364992" y="37627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3675888" y="3520440"/>
            <a:ext cx="352044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India-first, air-gapped adapter fabric for defence-relevant CV pipelines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7452360" y="914400"/>
            <a:ext cx="82296" cy="292608"/>
          </a:xfrm>
          <a:prstGeom prst="rect">
            <a:avLst/>
          </a:prstGeom>
          <a:solidFill>
            <a:srgbClr val="E8A33D"/>
          </a:solidFill>
          <a:ln/>
          <a:effectLst>
            <a:softEdge rad="127000"/>
          </a:effectLst>
        </p:spPr>
        <p:txBody>
          <a:bodyPr/>
          <a:lstStyle/>
          <a:p>
            <a:endParaRPr lang="en-IN" sz="1400"/>
          </a:p>
        </p:txBody>
      </p:sp>
      <p:sp>
        <p:nvSpPr>
          <p:cNvPr id="30" name="Text 26"/>
          <p:cNvSpPr txBox="1"/>
          <p:nvPr/>
        </p:nvSpPr>
        <p:spPr>
          <a:xfrm>
            <a:off x="7616952" y="886968"/>
            <a:ext cx="4206240" cy="329184"/>
          </a:xfrm>
          <a:prstGeom prst="rect">
            <a:avLst/>
          </a:prstGeom>
          <a:noFill/>
          <a:ln/>
          <a:effectLst>
            <a:softEdge rad="127000"/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 LINKS</a:t>
            </a:r>
            <a:endParaRPr lang="en-US" sz="1400" dirty="0"/>
          </a:p>
        </p:txBody>
      </p:sp>
      <p:sp>
        <p:nvSpPr>
          <p:cNvPr id="31" name="Text 27"/>
          <p:cNvSpPr txBox="1"/>
          <p:nvPr/>
        </p:nvSpPr>
        <p:spPr>
          <a:xfrm>
            <a:off x="7452360" y="1216152"/>
            <a:ext cx="4389120" cy="36576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  <a:effectLst>
            <a:softEdge rad="1270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SIH26228 Official Problem Statement
</a:t>
            </a:r>
            <a:r>
              <a:rPr lang="en-US" sz="1400" u="sng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https://sih.gov.in</a:t>
            </a:r>
            <a:endParaRPr lang="en-US" sz="1400" dirty="0"/>
          </a:p>
        </p:txBody>
      </p:sp>
      <p:sp>
        <p:nvSpPr>
          <p:cNvPr id="32" name="Text 28"/>
          <p:cNvSpPr txBox="1"/>
          <p:nvPr/>
        </p:nvSpPr>
        <p:spPr>
          <a:xfrm>
            <a:off x="7458024" y="1608168"/>
            <a:ext cx="4389120" cy="36576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  <a:effectLst>
            <a:softEdge rad="1270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TrojAI Benchmark
</a:t>
            </a:r>
            <a:r>
              <a:rPr lang="en-US" sz="1400" u="sng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https://pages.nist.gov/trojai/</a:t>
            </a:r>
            <a:endParaRPr lang="en-US" sz="1400" dirty="0"/>
          </a:p>
        </p:txBody>
      </p:sp>
      <p:sp>
        <p:nvSpPr>
          <p:cNvPr id="33" name="Text 29"/>
          <p:cNvSpPr txBox="1"/>
          <p:nvPr/>
        </p:nvSpPr>
        <p:spPr>
          <a:xfrm>
            <a:off x="7434072" y="2057449"/>
            <a:ext cx="4389120" cy="36576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  <a:effectLst>
            <a:softEdge rad="1270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BackdoorBench (SCLBD)
</a:t>
            </a:r>
            <a:r>
              <a:rPr lang="en-US" sz="1400" u="sng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https://github.com/SCLBD/BackdoorBench</a:t>
            </a:r>
            <a:endParaRPr lang="en-US" sz="1400" dirty="0"/>
          </a:p>
        </p:txBody>
      </p:sp>
      <p:sp>
        <p:nvSpPr>
          <p:cNvPr id="34" name="Text 30"/>
          <p:cNvSpPr txBox="1"/>
          <p:nvPr/>
        </p:nvSpPr>
        <p:spPr>
          <a:xfrm>
            <a:off x="7452360" y="2436876"/>
            <a:ext cx="4389120" cy="36576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  <a:effectLst>
            <a:softEdge rad="1270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C2PA AI/ML Provenance Guidance
</a:t>
            </a:r>
            <a:r>
              <a:rPr lang="en-US" sz="1400" u="sng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https://c2pa.org</a:t>
            </a:r>
            <a:endParaRPr lang="en-US" sz="1400" dirty="0"/>
          </a:p>
        </p:txBody>
      </p:sp>
      <p:sp>
        <p:nvSpPr>
          <p:cNvPr id="35" name="Text 31"/>
          <p:cNvSpPr txBox="1"/>
          <p:nvPr/>
        </p:nvSpPr>
        <p:spPr>
          <a:xfrm>
            <a:off x="7452360" y="2843614"/>
            <a:ext cx="4389120" cy="36576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  <a:effectLst>
            <a:softEdge rad="1270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DRDO AI/ML &amp; Cyber Technology
</a:t>
            </a:r>
            <a:r>
              <a:rPr lang="en-US" sz="1400" u="sng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https://www.drdo.gov.in</a:t>
            </a:r>
            <a:endParaRPr lang="en-US" sz="1400" dirty="0"/>
          </a:p>
        </p:txBody>
      </p:sp>
      <p:sp>
        <p:nvSpPr>
          <p:cNvPr id="36" name="Text 32"/>
          <p:cNvSpPr txBox="1"/>
          <p:nvPr/>
        </p:nvSpPr>
        <p:spPr>
          <a:xfrm>
            <a:off x="7452360" y="3223089"/>
            <a:ext cx="4389120" cy="36576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  <a:effectLst>
            <a:softEdge rad="1270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iDEX — Indian Army AI-as-a-Service
</a:t>
            </a:r>
            <a:r>
              <a:rPr lang="en-US" sz="1400" u="sng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https://idex.gov.in</a:t>
            </a:r>
            <a:endParaRPr lang="en-US" sz="1400" dirty="0"/>
          </a:p>
        </p:txBody>
      </p:sp>
      <p:sp>
        <p:nvSpPr>
          <p:cNvPr id="37" name="Text 33"/>
          <p:cNvSpPr txBox="1"/>
          <p:nvPr/>
        </p:nvSpPr>
        <p:spPr>
          <a:xfrm>
            <a:off x="7434072" y="3629827"/>
            <a:ext cx="4389120" cy="36576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  <a:effectLst>
            <a:softEdge rad="1270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IISc UVH-26 Indian Traffic Dataset
</a:t>
            </a:r>
            <a:r>
              <a:rPr lang="en-US" sz="1400" u="sng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https://huggingface.co/datasets/iisc-aim/UVH-26</a:t>
            </a:r>
            <a:endParaRPr lang="en-US" sz="1400" dirty="0"/>
          </a:p>
        </p:txBody>
      </p:sp>
      <p:sp>
        <p:nvSpPr>
          <p:cNvPr id="38" name="Text 34"/>
          <p:cNvSpPr txBox="1"/>
          <p:nvPr/>
        </p:nvSpPr>
        <p:spPr>
          <a:xfrm>
            <a:off x="7452360" y="4009644"/>
            <a:ext cx="4389120" cy="36576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  <a:effectLst>
            <a:softEdge rad="1270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ISRO VEDAS / Bhuvan (EO data)
</a:t>
            </a:r>
            <a:r>
              <a:rPr lang="en-US" sz="1400" u="sng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https://vedas.sac.gov.in</a:t>
            </a:r>
            <a:endParaRPr lang="en-US" sz="1400" dirty="0"/>
          </a:p>
        </p:txBody>
      </p:sp>
      <p:sp>
        <p:nvSpPr>
          <p:cNvPr id="39" name="Text 35"/>
          <p:cNvSpPr txBox="1"/>
          <p:nvPr/>
        </p:nvSpPr>
        <p:spPr>
          <a:xfrm>
            <a:off x="7452360" y="4443984"/>
            <a:ext cx="4389120" cy="36576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  <a:effectLst>
            <a:softEdge rad="1270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Secure AI Framework (SAIF)
</a:t>
            </a:r>
            <a:r>
              <a:rPr lang="en-US" sz="1400" u="sng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https://safety.google/cybersecurity-advancements/saif/</a:t>
            </a:r>
            <a:endParaRPr lang="en-US" sz="1400" dirty="0"/>
          </a:p>
        </p:txBody>
      </p:sp>
      <p:sp>
        <p:nvSpPr>
          <p:cNvPr id="40" name="Text 36"/>
          <p:cNvSpPr txBox="1"/>
          <p:nvPr/>
        </p:nvSpPr>
        <p:spPr>
          <a:xfrm>
            <a:off x="7406640" y="4908207"/>
            <a:ext cx="4389120" cy="335877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  <a:effectLst>
            <a:softEdge rad="12700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HiddenLayer AI Supply-Chain Security
</a:t>
            </a:r>
            <a:r>
              <a:rPr lang="en-US" sz="1400" u="sng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https://hiddenlayer.com</a:t>
            </a:r>
            <a:endParaRPr lang="en-US" sz="1400" dirty="0"/>
          </a:p>
        </p:txBody>
      </p:sp>
      <p:sp>
        <p:nvSpPr>
          <p:cNvPr id="41" name="Text 37"/>
          <p:cNvSpPr txBox="1"/>
          <p:nvPr/>
        </p:nvSpPr>
        <p:spPr>
          <a:xfrm>
            <a:off x="7452360" y="556535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/>
              </a:rPr>
              <a:t>▸ Live demo: https://YOUR-PROJECT.vercel.app</a:t>
            </a:r>
            <a:endParaRPr lang="en-US" i="1" dirty="0">
              <a:solidFill>
                <a:srgbClr val="5B647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dirty="0"/>
          </a:p>
        </p:txBody>
      </p:sp>
      <p:sp>
        <p:nvSpPr>
          <p:cNvPr id="42" name="Text 38"/>
          <p:cNvSpPr txBox="1"/>
          <p:nvPr/>
        </p:nvSpPr>
        <p:spPr>
          <a:xfrm>
            <a:off x="530352" y="5636223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/>
              </a:rPr>
              <a:t>▸ </a:t>
            </a: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/>
              </a:rPr>
              <a:t>Project Evidence Hub (Drive)</a:t>
            </a:r>
            <a:endParaRPr lang="en-US" sz="1400" dirty="0"/>
          </a:p>
        </p:txBody>
      </p:sp>
      <p:sp>
        <p:nvSpPr>
          <p:cNvPr id="43" name="Text 39"/>
          <p:cNvSpPr txBox="1"/>
          <p:nvPr/>
        </p:nvSpPr>
        <p:spPr>
          <a:xfrm>
            <a:off x="7434072" y="576024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/>
              </a:rPr>
              <a:t>▸ </a:t>
            </a: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/>
              </a:rPr>
              <a:t>GitHub Repository</a:t>
            </a:r>
            <a:endParaRPr lang="en-US" sz="1400" dirty="0"/>
          </a:p>
        </p:txBody>
      </p:sp>
      <p:sp>
        <p:nvSpPr>
          <p:cNvPr id="44" name="Text 40"/>
          <p:cNvSpPr txBox="1"/>
          <p:nvPr/>
        </p:nvSpPr>
        <p:spPr>
          <a:xfrm>
            <a:off x="365760" y="59893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classified, operational or service-generated data is used. All development/evaluation data is public or team-generated, per PS constraints.</a:t>
            </a:r>
            <a:endParaRPr lang="en-US" sz="1400" dirty="0"/>
          </a:p>
        </p:txBody>
      </p:sp>
      <p:sp>
        <p:nvSpPr>
          <p:cNvPr id="45" name="Shape 41"/>
          <p:cNvSpPr/>
          <p:nvPr/>
        </p:nvSpPr>
        <p:spPr>
          <a:xfrm>
            <a:off x="0" y="6547104"/>
            <a:ext cx="12188952" cy="310896"/>
          </a:xfrm>
          <a:prstGeom prst="rect">
            <a:avLst/>
          </a:prstGeom>
          <a:solidFill>
            <a:srgbClr val="0E1A2B"/>
          </a:solidFill>
          <a:ln/>
        </p:spPr>
        <p:txBody>
          <a:bodyPr/>
          <a:lstStyle/>
          <a:p>
            <a:endParaRPr lang="en-IN" sz="1400"/>
          </a:p>
        </p:txBody>
      </p:sp>
      <p:sp>
        <p:nvSpPr>
          <p:cNvPr id="46" name="Text 42"/>
          <p:cNvSpPr txBox="1"/>
          <p:nvPr/>
        </p:nvSpPr>
        <p:spPr>
          <a:xfrm>
            <a:off x="256032" y="6547104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 2026 — DRISHTRA · Trusted Vision Assurance Fabric · PS 26228</a:t>
            </a:r>
            <a:endParaRPr lang="en-US" sz="1400" dirty="0"/>
          </a:p>
        </p:txBody>
      </p:sp>
      <p:sp>
        <p:nvSpPr>
          <p:cNvPr id="47" name="Text 43"/>
          <p:cNvSpPr txBox="1"/>
          <p:nvPr/>
        </p:nvSpPr>
        <p:spPr>
          <a:xfrm>
            <a:off x="11503152" y="654710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9" name="Oval 48" descr="Your startup LOGO">
            <a:extLst>
              <a:ext uri="{FF2B5EF4-FFF2-40B4-BE49-F238E27FC236}">
                <a16:creationId xmlns:a16="http://schemas.microsoft.com/office/drawing/2014/main" id="{99A175CA-3FC7-A4DB-A23B-25630E391F2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56032" y="201730"/>
            <a:ext cx="2249850" cy="26780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HackHawks405</a:t>
            </a:r>
            <a:endParaRPr lang="en-IN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E268BFF-9773-F909-DF53-3ECD3517D47B}"/>
              </a:ext>
            </a:extLst>
          </p:cNvPr>
          <p:cNvSpPr txBox="1"/>
          <p:nvPr/>
        </p:nvSpPr>
        <p:spPr>
          <a:xfrm>
            <a:off x="448056" y="4655350"/>
            <a:ext cx="35204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15"/>
              </a:rPr>
              <a:t>https://drive.google.com/drive/folders/1mxUWmGMbVJ_6LKTibEFJUbYOx3maWFpY?usp=sharing</a:t>
            </a:r>
            <a:endParaRPr lang="en-IN" dirty="0"/>
          </a:p>
          <a:p>
            <a:endParaRPr lang="en-IN" dirty="0"/>
          </a:p>
        </p:txBody>
      </p:sp>
      <p:pic>
        <p:nvPicPr>
          <p:cNvPr id="53" name="Picture 52">
            <a:hlinkClick r:id="rId17"/>
            <a:extLst>
              <a:ext uri="{FF2B5EF4-FFF2-40B4-BE49-F238E27FC236}">
                <a16:creationId xmlns:a16="http://schemas.microsoft.com/office/drawing/2014/main" id="{5FC8B2F8-36E5-22F7-6924-6424C0BCB55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812066" y="4781840"/>
            <a:ext cx="804963" cy="804963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6B1DB3A1-6104-9332-7FD5-0CF277EA7D65}"/>
              </a:ext>
            </a:extLst>
          </p:cNvPr>
          <p:cNvSpPr txBox="1"/>
          <p:nvPr/>
        </p:nvSpPr>
        <p:spPr>
          <a:xfrm>
            <a:off x="3794760" y="5601700"/>
            <a:ext cx="289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17"/>
              </a:rPr>
              <a:t>Demo video (click the icon above)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</TotalTime>
  <Words>1139</Words>
  <Application>Microsoft Office PowerPoint</Application>
  <PresentationFormat>Widescreen</PresentationFormat>
  <Paragraphs>175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</vt:lpstr>
      <vt:lpstr>Garamond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B24CS135</cp:lastModifiedBy>
  <cp:revision>15</cp:revision>
  <dcterms:created xsi:type="dcterms:W3CDTF">2026-09-26T17:29:55Z</dcterms:created>
  <dcterms:modified xsi:type="dcterms:W3CDTF">2026-09-27T17:49:09Z</dcterms:modified>
</cp:coreProperties>
</file>